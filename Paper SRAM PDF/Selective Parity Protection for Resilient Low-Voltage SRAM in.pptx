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89" r:id="rId6"/>
    <p:sldId id="284" r:id="rId7"/>
    <p:sldId id="287" r:id="rId8"/>
    <p:sldId id="260" r:id="rId9"/>
    <p:sldId id="262" r:id="rId10"/>
    <p:sldId id="288" r:id="rId11"/>
    <p:sldId id="285" r:id="rId12"/>
    <p:sldId id="272" r:id="rId13"/>
    <p:sldId id="276" r:id="rId14"/>
    <p:sldId id="278" r:id="rId15"/>
    <p:sldId id="279" r:id="rId16"/>
    <p:sldId id="280" r:id="rId17"/>
    <p:sldId id="282" r:id="rId18"/>
    <p:sldId id="286" r:id="rId19"/>
    <p:sldId id="283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3" autoAdjust="0"/>
  </p:normalViewPr>
  <p:slideViewPr>
    <p:cSldViewPr snapToGrid="0">
      <p:cViewPr>
        <p:scale>
          <a:sx n="100" d="100"/>
          <a:sy n="100" d="100"/>
        </p:scale>
        <p:origin x="37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173E7-3A60-42A0-A850-31A3072E7AB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89946-61F3-4DEA-80FC-0EBA7789121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639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3755-0CB5-4D6D-8BBD-D0F8873AF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E9FA8-7E6F-487C-B061-D1116FB86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069EB-42E3-4E1E-B3E2-56BF33124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163A6-1DFC-480C-871D-353A3C922213}" type="datetime1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BEFFB-B23E-48CE-8963-A8F8BA13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BED21-620D-41FB-BB9C-316614A3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628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E41A-C1DA-43BF-AC6E-0B07F47E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E199A-3BBF-48CF-9C27-66953E4F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FBFF6-80B9-4500-A53B-F6DDF8E9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E074-225A-4F7F-A467-FC074ACF1A2D}" type="datetime1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73EDF-181B-4051-AA92-1A9E15AE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64796-129C-49D8-B0F8-1F0AC9A4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85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FED9-9CBB-4D2E-A619-1799F24B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E18FB-712E-4A2C-8311-46FF83334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78764-225E-421B-B925-42C3F8C2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4A6E-43CD-490E-8265-B508A53AEDB7}" type="datetime1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1D781-E5EC-43B3-BD6D-CC9FC3F0C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4029-CD6F-4949-A402-6AA3F19D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437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4E12-23CE-4383-99B6-CE75C3002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9D342-A3AC-4F85-A21A-89C6D5362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FB9AE-33D8-4A1A-9A77-A32C639FE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B3456-CCF6-40FA-AF08-65B21987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16678-CFDB-4786-B700-291F2684B8A1}" type="datetime1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19025-EF20-4521-9DAD-A0FF785B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B24EC-8461-4B9A-8507-F54C1E5E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99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8E0F-7437-4EBC-BCD5-820D9F019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F6616-D52C-4A7C-AD9C-62813097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27C39-1C17-4F98-A381-9F6D31F95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6EA5F-7106-4F61-8060-C201A2874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FE913-51B5-4971-9A7D-414AE0DAB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8F5F8-5F3C-4FC4-BD3C-988AECD9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16AA3-7622-4BB4-BF7B-822ECC8D913A}" type="datetime1">
              <a:rPr lang="de-DE" smtClean="0"/>
              <a:t>26.01.2026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FAF6C-5868-44F1-8063-375D4C62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CC931-12E0-4BD2-8BDD-690559FB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72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E852-17A6-4D0A-8637-847D34377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DD8E1-48F3-481E-9029-C306FE11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F3F08-1CEB-45D2-AF7A-54A6880A4DF1}" type="datetime1">
              <a:rPr lang="de-DE" smtClean="0"/>
              <a:t>26.01.2026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D7C3-187D-4CB1-BC04-C2C31924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58393-B93E-43C5-A07D-074903DA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190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85116-2661-4D58-87CF-186E4937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C499-FAD1-4563-BD2F-91D481B340D2}" type="datetime1">
              <a:rPr lang="de-DE" smtClean="0"/>
              <a:t>26.01.2026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2BD58-93CF-431F-A5F3-BD3C5BF1C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B13D6-3251-4BC3-B5AA-252BF0A0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613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0A2C6-49A2-4284-BC63-5C409E5E5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D012C-31D8-4DC8-BBF6-A01202282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E82A8-A7C8-43D1-B688-A48A21E11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1FA1D-CAB4-47D7-AD17-8E209820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3D9D-ADB3-4CB3-88DF-980912DA64CC}" type="datetime1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A38E4-6F5A-468A-A77D-2A5BCAE6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D4C48-EEAC-47BE-AA92-B540FBF3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610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2745-3F6E-4245-9EDC-2F5C2517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E0776-D750-4C98-BB07-0FA34A708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D7944-D5DC-49EE-837F-F4C3252DE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0761C-CEE4-4310-97FB-52638929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E2B0A-7343-4E4A-9199-C5934BA7A990}" type="datetime1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7CC0D-3438-469D-9CF0-A2980BABA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3B4EB-4B0C-4FE9-9389-7E9A0244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186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9176-0709-4BBD-B657-71AA5C18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7CFAF-F91D-4869-B1B4-3C492C689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4DF96-3CAD-47C0-99AA-B2E24417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FDA2-9E55-4D0E-BA2A-7752031CC097}" type="datetime1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B32E7-85ED-401A-BEAD-229341ED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29B4-F6C0-43FF-AAB6-CB6E72D8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1238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7CAD8-A6FE-4E49-8687-219183AF3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9E208-A1FB-4F8D-BD42-53162F655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DAEA1-4804-44AE-B862-0FF530AA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DE3CC-F244-4B34-A5A8-06E47C64C32D}" type="datetime1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FDAFA-B610-43AC-8804-68611555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29D80-31DD-4616-BCD8-324E612F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65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8E131-B215-4439-906F-D8A00E0F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55D23-942A-4F2D-8BBD-6EF0AA1F9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EF4A5-F8C4-402A-A2A0-690DDE6C9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0215A-1F56-4E00-9C38-A925D6CC15E5}" type="datetime1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5449C-7C2C-4F05-A420-06CE1EE2B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08FD2-9592-47BD-B460-87A4A976D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3357A-404B-4499-B3B4-E4B1D5E2ED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95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F308-0708-4CAE-AA21-35A680E192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3600" dirty="0" err="1"/>
              <a:t>Selective</a:t>
            </a:r>
            <a:r>
              <a:rPr lang="de-DE" sz="3600" dirty="0"/>
              <a:t> Parity </a:t>
            </a:r>
            <a:r>
              <a:rPr lang="de-DE" sz="3600" dirty="0" err="1"/>
              <a:t>Protection</a:t>
            </a:r>
            <a:r>
              <a:rPr lang="de-DE" sz="3600" dirty="0"/>
              <a:t> </a:t>
            </a:r>
            <a:r>
              <a:rPr lang="de-DE" sz="3600" dirty="0" err="1"/>
              <a:t>for</a:t>
            </a:r>
            <a:r>
              <a:rPr lang="de-DE" sz="3600" dirty="0"/>
              <a:t> Resilient Low-</a:t>
            </a:r>
            <a:r>
              <a:rPr lang="de-DE" sz="3600" dirty="0" err="1"/>
              <a:t>Voltage</a:t>
            </a:r>
            <a:r>
              <a:rPr lang="de-DE" sz="3600" dirty="0"/>
              <a:t> SRAM in </a:t>
            </a:r>
            <a:r>
              <a:rPr lang="de-DE" sz="3600" dirty="0" err="1"/>
              <a:t>Quantized</a:t>
            </a:r>
            <a:r>
              <a:rPr lang="de-DE" sz="3600" dirty="0"/>
              <a:t> </a:t>
            </a:r>
            <a:r>
              <a:rPr lang="de-DE" sz="3600" dirty="0" err="1"/>
              <a:t>Neural</a:t>
            </a:r>
            <a:r>
              <a:rPr lang="de-DE" sz="3600" dirty="0"/>
              <a:t>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E4589-3AA1-43FC-992B-725FD1112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de-DE" sz="3200" i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Oğulcan Aşık, Ji Wu, Kazuteru Namba</a:t>
            </a:r>
          </a:p>
          <a:p>
            <a:pPr algn="r"/>
            <a:r>
              <a:rPr lang="de-DE" sz="3200" i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Chiba University</a:t>
            </a:r>
          </a:p>
          <a:p>
            <a:endParaRPr lang="de-DE" sz="4000" i="1" dirty="0"/>
          </a:p>
        </p:txBody>
      </p:sp>
    </p:spTree>
    <p:extLst>
      <p:ext uri="{BB962C8B-B14F-4D97-AF65-F5344CB8AC3E}">
        <p14:creationId xmlns:p14="http://schemas.microsoft.com/office/powerpoint/2010/main" val="1345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E12C-AE10-4F5E-82EE-46A7C175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296E3-E311-4595-B474-7F667C4F1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5050"/>
          </a:xfrm>
        </p:spPr>
        <p:txBody>
          <a:bodyPr>
            <a:normAutofit/>
          </a:bodyPr>
          <a:lstStyle/>
          <a:p>
            <a:r>
              <a:rPr lang="de-DE" dirty="0"/>
              <a:t>Large AI Models</a:t>
            </a:r>
          </a:p>
          <a:p>
            <a:endParaRPr lang="de-DE" dirty="0"/>
          </a:p>
          <a:p>
            <a:r>
              <a:rPr lang="de-DE" b="1" dirty="0"/>
              <a:t>Problem 1:</a:t>
            </a:r>
            <a:r>
              <a:rPr lang="de-DE" dirty="0"/>
              <a:t> High </a:t>
            </a:r>
            <a:r>
              <a:rPr lang="de-DE" u="sng" dirty="0"/>
              <a:t>Energy</a:t>
            </a:r>
            <a:r>
              <a:rPr lang="de-DE" dirty="0"/>
              <a:t> Requirement</a:t>
            </a:r>
          </a:p>
          <a:p>
            <a:endParaRPr lang="de-DE" b="1" dirty="0"/>
          </a:p>
          <a:p>
            <a:r>
              <a:rPr lang="de-DE" b="1" dirty="0"/>
              <a:t>Problem 2:</a:t>
            </a:r>
            <a:r>
              <a:rPr lang="de-DE" dirty="0"/>
              <a:t> High </a:t>
            </a:r>
            <a:r>
              <a:rPr lang="de-DE" u="sng" dirty="0"/>
              <a:t>Accuracy</a:t>
            </a:r>
            <a:r>
              <a:rPr lang="de-DE" dirty="0"/>
              <a:t> Requirement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de-DE" dirty="0"/>
              <a:t>Need to </a:t>
            </a:r>
            <a:r>
              <a:rPr lang="de-DE" u="sng" dirty="0"/>
              <a:t>Balance</a:t>
            </a:r>
            <a:r>
              <a:rPr lang="de-DE" dirty="0"/>
              <a:t> Both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AC455-B0C6-45F9-B7D1-53935FF48BC8}"/>
              </a:ext>
            </a:extLst>
          </p:cNvPr>
          <p:cNvSpPr txBox="1"/>
          <p:nvPr/>
        </p:nvSpPr>
        <p:spPr>
          <a:xfrm>
            <a:off x="2091267" y="5507149"/>
            <a:ext cx="7171266" cy="248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/>
              <a:t>What</a:t>
            </a:r>
            <a:r>
              <a:rPr lang="de-DE" sz="3200" b="1" dirty="0"/>
              <a:t> </a:t>
            </a:r>
            <a:r>
              <a:rPr lang="de-DE" sz="3200" b="1" dirty="0" err="1"/>
              <a:t>can</a:t>
            </a:r>
            <a:r>
              <a:rPr lang="de-DE" sz="3200" b="1" dirty="0"/>
              <a:t> </a:t>
            </a:r>
            <a:r>
              <a:rPr lang="de-DE" sz="3200" b="1" dirty="0" err="1"/>
              <a:t>we</a:t>
            </a:r>
            <a:r>
              <a:rPr lang="de-DE" sz="3200" b="1" dirty="0"/>
              <a:t> do </a:t>
            </a:r>
            <a:r>
              <a:rPr lang="de-DE" sz="3200" b="1" dirty="0" err="1"/>
              <a:t>about</a:t>
            </a:r>
            <a:r>
              <a:rPr lang="de-DE" sz="3200" b="1" dirty="0"/>
              <a:t> </a:t>
            </a:r>
            <a:r>
              <a:rPr lang="de-DE" sz="3200" b="1" dirty="0" err="1"/>
              <a:t>this</a:t>
            </a:r>
            <a:r>
              <a:rPr lang="de-DE" sz="3200" b="1" dirty="0"/>
              <a:t>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AAEB6-9310-443C-B370-30FF8188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5A8E2-618C-458E-9DEC-D2CA1178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27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4A71-D2EF-47EB-AE16-B77A37A0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Common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EF83-4461-4574-9CF5-410929C2C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de-DE" sz="2400" dirty="0" err="1"/>
              <a:t>Quantization</a:t>
            </a:r>
            <a:endParaRPr lang="de-DE" sz="2400" dirty="0"/>
          </a:p>
          <a:p>
            <a:pPr lvl="1">
              <a:buFont typeface="Calibri" panose="020F0502020204030204" pitchFamily="34" charset="0"/>
              <a:buChar char="→"/>
            </a:pPr>
            <a:r>
              <a:rPr lang="de-DE" sz="2000" dirty="0"/>
              <a:t>Impact on </a:t>
            </a:r>
            <a:r>
              <a:rPr lang="de-DE" sz="2000" dirty="0" err="1"/>
              <a:t>Accuracy</a:t>
            </a:r>
            <a:r>
              <a:rPr lang="de-DE" sz="2000" dirty="0"/>
              <a:t> </a:t>
            </a:r>
            <a:r>
              <a:rPr lang="de-DE" sz="2000" dirty="0" err="1"/>
              <a:t>Depends</a:t>
            </a:r>
            <a:r>
              <a:rPr lang="de-DE" sz="2000" dirty="0"/>
              <a:t> on Method </a:t>
            </a:r>
            <a:r>
              <a:rPr lang="de-DE" sz="2000" dirty="0" err="1"/>
              <a:t>Used</a:t>
            </a:r>
            <a:endParaRPr lang="de-DE" sz="2000" dirty="0"/>
          </a:p>
          <a:p>
            <a:pPr marL="0" indent="0">
              <a:buNone/>
            </a:pPr>
            <a:endParaRPr lang="de-DE" sz="2400" dirty="0"/>
          </a:p>
          <a:p>
            <a:r>
              <a:rPr lang="de-DE" sz="2400" dirty="0" err="1"/>
              <a:t>Lowering</a:t>
            </a:r>
            <a:r>
              <a:rPr lang="de-DE" sz="2400" dirty="0"/>
              <a:t> Operating </a:t>
            </a:r>
            <a:r>
              <a:rPr lang="de-DE" sz="2400" dirty="0" err="1"/>
              <a:t>Voltage</a:t>
            </a:r>
            <a:endParaRPr lang="de-DE" sz="2400" dirty="0"/>
          </a:p>
          <a:p>
            <a:pPr lvl="1">
              <a:buFont typeface="Calibri" panose="020F0502020204030204" pitchFamily="34" charset="0"/>
              <a:buChar char="→"/>
            </a:pPr>
            <a:r>
              <a:rPr lang="de-DE" sz="2000" dirty="0" err="1"/>
              <a:t>Increases</a:t>
            </a:r>
            <a:r>
              <a:rPr lang="de-DE" sz="2000" dirty="0"/>
              <a:t> Bit Error Rate (BER) </a:t>
            </a:r>
            <a:r>
              <a:rPr lang="de-DE" sz="2000" dirty="0" err="1"/>
              <a:t>Which</a:t>
            </a:r>
            <a:r>
              <a:rPr lang="de-DE" sz="2000" dirty="0"/>
              <a:t> </a:t>
            </a:r>
            <a:r>
              <a:rPr lang="de-DE" sz="2000" dirty="0" err="1"/>
              <a:t>Lowers</a:t>
            </a:r>
            <a:r>
              <a:rPr lang="de-DE" sz="2000" dirty="0"/>
              <a:t> </a:t>
            </a:r>
            <a:r>
              <a:rPr lang="de-DE" sz="2000" dirty="0" err="1"/>
              <a:t>Accuracy</a:t>
            </a:r>
            <a:endParaRPr lang="de-DE" sz="2000" dirty="0"/>
          </a:p>
          <a:p>
            <a:endParaRPr lang="de-DE" sz="2400" dirty="0"/>
          </a:p>
          <a:p>
            <a:r>
              <a:rPr lang="de-DE" sz="2400" dirty="0" err="1"/>
              <a:t>Smaller</a:t>
            </a:r>
            <a:r>
              <a:rPr lang="de-DE" sz="2400" dirty="0"/>
              <a:t> Models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de-DE" sz="2000" dirty="0"/>
              <a:t>Not </a:t>
            </a:r>
            <a:r>
              <a:rPr lang="de-DE" sz="2000" dirty="0" err="1"/>
              <a:t>Acceptable</a:t>
            </a:r>
            <a:r>
              <a:rPr lang="de-DE" sz="2000" dirty="0"/>
              <a:t> in Many Use Cases</a:t>
            </a:r>
          </a:p>
          <a:p>
            <a:pPr lvl="1"/>
            <a:endParaRPr lang="de-DE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D148EC-5ED2-460D-A48B-1DCE5B3980D6}"/>
              </a:ext>
            </a:extLst>
          </p:cNvPr>
          <p:cNvSpPr txBox="1">
            <a:spLocks/>
          </p:cNvSpPr>
          <p:nvPr/>
        </p:nvSpPr>
        <p:spPr>
          <a:xfrm>
            <a:off x="6095999" y="1822450"/>
            <a:ext cx="545253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 Mixed-Precision Training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de-DE" sz="2000" dirty="0"/>
              <a:t>Very </a:t>
            </a:r>
            <a:r>
              <a:rPr lang="de-DE" sz="2000" dirty="0" err="1"/>
              <a:t>Effective</a:t>
            </a:r>
            <a:r>
              <a:rPr lang="de-DE" sz="2000" dirty="0"/>
              <a:t> </a:t>
            </a:r>
            <a:r>
              <a:rPr lang="de-DE" sz="2000" dirty="0" err="1"/>
              <a:t>Reduction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Precision in </a:t>
            </a:r>
            <a:r>
              <a:rPr lang="de-DE" sz="2000" dirty="0" err="1"/>
              <a:t>Steps</a:t>
            </a:r>
            <a:r>
              <a:rPr lang="de-DE" sz="2000" dirty="0"/>
              <a:t> </a:t>
            </a:r>
            <a:r>
              <a:rPr lang="de-DE" sz="2000" dirty="0" err="1"/>
              <a:t>Where</a:t>
            </a:r>
            <a:r>
              <a:rPr lang="de-DE" sz="2000" dirty="0"/>
              <a:t> Higher Precision </a:t>
            </a:r>
            <a:r>
              <a:rPr lang="de-DE" sz="2000" dirty="0" err="1"/>
              <a:t>is</a:t>
            </a:r>
            <a:r>
              <a:rPr lang="de-DE" sz="2000" dirty="0"/>
              <a:t> not </a:t>
            </a:r>
            <a:r>
              <a:rPr lang="de-DE" sz="2000" dirty="0" err="1"/>
              <a:t>Needed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 err="1"/>
              <a:t>Sparse</a:t>
            </a:r>
            <a:r>
              <a:rPr lang="de-DE" sz="2400" dirty="0"/>
              <a:t> Models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de-DE" sz="2000" dirty="0" err="1"/>
              <a:t>Activating</a:t>
            </a:r>
            <a:r>
              <a:rPr lang="de-DE" sz="2000" dirty="0"/>
              <a:t> </a:t>
            </a:r>
            <a:r>
              <a:rPr lang="de-DE" sz="2000" dirty="0" err="1"/>
              <a:t>Only</a:t>
            </a:r>
            <a:r>
              <a:rPr lang="de-DE" sz="2000" dirty="0"/>
              <a:t> </a:t>
            </a:r>
            <a:r>
              <a:rPr lang="de-DE" sz="2000" dirty="0" err="1"/>
              <a:t>Certain</a:t>
            </a:r>
            <a:r>
              <a:rPr lang="de-DE" sz="2000" dirty="0"/>
              <a:t> Areas in a Model </a:t>
            </a:r>
            <a:r>
              <a:rPr lang="de-DE" sz="2000" dirty="0" err="1"/>
              <a:t>Depending</a:t>
            </a:r>
            <a:r>
              <a:rPr lang="de-DE" sz="2000" dirty="0"/>
              <a:t> on </a:t>
            </a:r>
            <a:r>
              <a:rPr lang="de-DE" sz="2000" dirty="0" err="1"/>
              <a:t>the</a:t>
            </a:r>
            <a:r>
              <a:rPr lang="de-DE" sz="2000" dirty="0"/>
              <a:t> Query</a:t>
            </a:r>
          </a:p>
          <a:p>
            <a:endParaRPr lang="de-DE" sz="2400" dirty="0"/>
          </a:p>
          <a:p>
            <a:r>
              <a:rPr lang="de-DE" sz="2400" dirty="0"/>
              <a:t>Hardware </a:t>
            </a:r>
            <a:r>
              <a:rPr lang="de-DE" sz="2400" dirty="0" err="1"/>
              <a:t>Advancements</a:t>
            </a:r>
            <a:r>
              <a:rPr lang="de-DE" sz="2400" dirty="0"/>
              <a:t> like CIM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de-DE" sz="2000" dirty="0"/>
              <a:t>RAM </a:t>
            </a:r>
            <a:r>
              <a:rPr lang="de-DE" sz="2000" dirty="0" err="1"/>
              <a:t>That</a:t>
            </a:r>
            <a:r>
              <a:rPr lang="de-DE" sz="2000" dirty="0"/>
              <a:t> Can Perform </a:t>
            </a:r>
            <a:r>
              <a:rPr lang="de-DE" sz="2000" dirty="0" err="1"/>
              <a:t>Certain</a:t>
            </a:r>
            <a:r>
              <a:rPr lang="de-DE" sz="2000" dirty="0"/>
              <a:t> </a:t>
            </a:r>
            <a:r>
              <a:rPr lang="de-DE" sz="2000" b="1" dirty="0" err="1"/>
              <a:t>C</a:t>
            </a:r>
            <a:r>
              <a:rPr lang="de-DE" sz="2000" dirty="0" err="1"/>
              <a:t>omputations</a:t>
            </a:r>
            <a:r>
              <a:rPr lang="de-DE" sz="2000" dirty="0"/>
              <a:t> </a:t>
            </a:r>
            <a:r>
              <a:rPr lang="de-DE" sz="2000" b="1" dirty="0"/>
              <a:t>I</a:t>
            </a:r>
            <a:r>
              <a:rPr lang="de-DE" sz="2000" dirty="0"/>
              <a:t>n-</a:t>
            </a:r>
            <a:r>
              <a:rPr lang="de-DE" sz="2000" b="1" dirty="0"/>
              <a:t>M</a:t>
            </a:r>
            <a:r>
              <a:rPr lang="de-DE" sz="2000" dirty="0"/>
              <a:t>emory </a:t>
            </a:r>
            <a:r>
              <a:rPr lang="de-DE" sz="2000" dirty="0" err="1"/>
              <a:t>Saving</a:t>
            </a:r>
            <a:r>
              <a:rPr lang="de-DE" sz="2000" dirty="0"/>
              <a:t> Expensive Data Transfers</a:t>
            </a:r>
          </a:p>
          <a:p>
            <a:pPr lvl="1"/>
            <a:endParaRPr lang="de-DE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EB994-C830-443D-8ABA-CBD341C4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2E3C0-ED4F-4FEC-B269-67D5E2F4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81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305B-13F5-431D-A2EA-2A04E321D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600" b="1" dirty="0" err="1"/>
              <a:t>Methodology</a:t>
            </a:r>
            <a:endParaRPr lang="de-DE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05424-38BF-4403-BB0A-4EF9588F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1"/>
            <a:ext cx="10515600" cy="468153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de-DE" sz="3800" b="1" dirty="0">
                <a:solidFill>
                  <a:schemeClr val="accent2">
                    <a:lumMod val="75000"/>
                  </a:schemeClr>
                </a:solidFill>
              </a:rPr>
              <a:t>ECC + </a:t>
            </a:r>
            <a:r>
              <a:rPr lang="de-DE" sz="3800" b="1" dirty="0" err="1">
                <a:solidFill>
                  <a:schemeClr val="accent2">
                    <a:lumMod val="75000"/>
                  </a:schemeClr>
                </a:solidFill>
              </a:rPr>
              <a:t>Quantized</a:t>
            </a:r>
            <a:r>
              <a:rPr lang="de-DE" sz="3800" b="1" dirty="0">
                <a:solidFill>
                  <a:schemeClr val="accent2">
                    <a:lumMod val="75000"/>
                  </a:schemeClr>
                </a:solidFill>
              </a:rPr>
              <a:t> Models = Lower Operating </a:t>
            </a:r>
            <a:r>
              <a:rPr lang="de-DE" sz="3800" b="1" dirty="0" err="1">
                <a:solidFill>
                  <a:schemeClr val="accent2">
                    <a:lumMod val="75000"/>
                  </a:schemeClr>
                </a:solidFill>
              </a:rPr>
              <a:t>Voltage</a:t>
            </a:r>
            <a:endParaRPr lang="de-DE" sz="3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de-DE" dirty="0"/>
              <a:t>Core Idea:</a:t>
            </a:r>
          </a:p>
          <a:p>
            <a:pPr lvl="1"/>
            <a:r>
              <a:rPr lang="de-DE" dirty="0"/>
              <a:t>Train CNN </a:t>
            </a:r>
            <a:r>
              <a:rPr lang="de-DE" dirty="0" err="1"/>
              <a:t>With</a:t>
            </a:r>
            <a:r>
              <a:rPr lang="de-DE" dirty="0"/>
              <a:t> 32-Bit </a:t>
            </a:r>
            <a:r>
              <a:rPr lang="de-DE" dirty="0" err="1"/>
              <a:t>Weight</a:t>
            </a:r>
            <a:endParaRPr lang="de-DE" dirty="0"/>
          </a:p>
          <a:p>
            <a:pPr lvl="2"/>
            <a:r>
              <a:rPr lang="de-DE" dirty="0" err="1"/>
              <a:t>Quantize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4-Bit, 8-Bit &amp; 16-Bit</a:t>
            </a:r>
          </a:p>
          <a:p>
            <a:endParaRPr lang="de-DE" dirty="0"/>
          </a:p>
          <a:p>
            <a:pPr lvl="1"/>
            <a:r>
              <a:rPr lang="de-DE" sz="2000" dirty="0" err="1"/>
              <a:t>Apply</a:t>
            </a:r>
            <a:r>
              <a:rPr lang="de-DE" sz="2000" dirty="0"/>
              <a:t> Error </a:t>
            </a:r>
            <a:r>
              <a:rPr lang="de-DE" sz="2000" dirty="0" err="1"/>
              <a:t>Correcting</a:t>
            </a:r>
            <a:r>
              <a:rPr lang="de-DE" sz="2000" dirty="0"/>
              <a:t> Code (ECC) </a:t>
            </a:r>
            <a:r>
              <a:rPr lang="de-DE" sz="2000" dirty="0" err="1"/>
              <a:t>to</a:t>
            </a:r>
            <a:r>
              <a:rPr lang="de-DE" sz="2000" dirty="0"/>
              <a:t> SRAM </a:t>
            </a:r>
            <a:r>
              <a:rPr lang="de-DE" sz="2000" dirty="0" err="1"/>
              <a:t>with</a:t>
            </a:r>
            <a:r>
              <a:rPr lang="de-DE" sz="2000" dirty="0"/>
              <a:t> Low Operating </a:t>
            </a:r>
            <a:r>
              <a:rPr lang="de-DE" sz="2000" dirty="0" err="1"/>
              <a:t>Voltage</a:t>
            </a:r>
            <a:endParaRPr lang="de-DE" sz="2000" dirty="0"/>
          </a:p>
          <a:p>
            <a:pPr lvl="1"/>
            <a:endParaRPr lang="de-DE" sz="2000" dirty="0"/>
          </a:p>
          <a:p>
            <a:pPr lvl="1"/>
            <a:r>
              <a:rPr lang="de-DE" sz="2000" dirty="0"/>
              <a:t>Low Operating </a:t>
            </a:r>
            <a:r>
              <a:rPr lang="de-DE" sz="2000" dirty="0" err="1"/>
              <a:t>Voltage</a:t>
            </a:r>
            <a:r>
              <a:rPr lang="de-DE" sz="2000" dirty="0"/>
              <a:t> = Higher Bit Error Rate</a:t>
            </a:r>
          </a:p>
          <a:p>
            <a:pPr lvl="1"/>
            <a:endParaRPr lang="de-DE" sz="2000" dirty="0"/>
          </a:p>
          <a:p>
            <a:pPr lvl="1"/>
            <a:r>
              <a:rPr lang="de-DE" sz="2000" dirty="0"/>
              <a:t>Use ECC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Correct</a:t>
            </a:r>
            <a:r>
              <a:rPr lang="de-DE" sz="2000" dirty="0"/>
              <a:t> </a:t>
            </a:r>
            <a:r>
              <a:rPr lang="de-DE" sz="2000" dirty="0" err="1"/>
              <a:t>up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1 Bit Error in Every Model </a:t>
            </a:r>
            <a:r>
              <a:rPr lang="de-DE" sz="2000" dirty="0" err="1"/>
              <a:t>Weight</a:t>
            </a:r>
            <a:endParaRPr lang="de-DE" sz="2000" dirty="0"/>
          </a:p>
          <a:p>
            <a:pPr lvl="1"/>
            <a:endParaRPr lang="de-DE" sz="2000" dirty="0"/>
          </a:p>
          <a:p>
            <a:r>
              <a:rPr lang="de-DE" dirty="0" err="1"/>
              <a:t>Two</a:t>
            </a:r>
            <a:r>
              <a:rPr lang="de-DE" dirty="0"/>
              <a:t> Methods:</a:t>
            </a:r>
          </a:p>
          <a:p>
            <a:pPr lvl="1"/>
            <a:r>
              <a:rPr lang="de-DE" sz="2000" dirty="0"/>
              <a:t>Split Bit Ranges in a Word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protected</a:t>
            </a:r>
            <a:r>
              <a:rPr lang="de-DE" sz="2000" dirty="0"/>
              <a:t> (BER = 10</a:t>
            </a:r>
            <a:r>
              <a:rPr lang="de-DE" sz="2000" baseline="30000" dirty="0"/>
              <a:t>-4</a:t>
            </a:r>
            <a:r>
              <a:rPr lang="de-DE" sz="2000" dirty="0"/>
              <a:t>) and </a:t>
            </a:r>
            <a:r>
              <a:rPr lang="de-DE" sz="2000" dirty="0" err="1"/>
              <a:t>unprotected</a:t>
            </a:r>
            <a:r>
              <a:rPr lang="de-DE" sz="2000" dirty="0"/>
              <a:t> (variable BER)</a:t>
            </a:r>
          </a:p>
          <a:p>
            <a:pPr lvl="1"/>
            <a:endParaRPr lang="de-DE" sz="2000" baseline="30000" dirty="0"/>
          </a:p>
          <a:p>
            <a:pPr lvl="1"/>
            <a:r>
              <a:rPr lang="de-DE" sz="2000" dirty="0"/>
              <a:t>Same BER </a:t>
            </a:r>
            <a:r>
              <a:rPr lang="de-DE" sz="2000" dirty="0" err="1"/>
              <a:t>throughout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entire</a:t>
            </a:r>
            <a:r>
              <a:rPr lang="de-DE" sz="2000" dirty="0"/>
              <a:t> Word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54107-7998-4192-84ED-00577B1F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57EA-8A7B-448C-8F4C-AAD6149C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095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305B-13F5-431D-A2EA-2A04E321D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de-DE" sz="3600" b="1" dirty="0" err="1"/>
              <a:t>Methodology</a:t>
            </a:r>
            <a:endParaRPr lang="de-DE" sz="3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54107-7998-4192-84ED-00577B1F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57EA-8A7B-448C-8F4C-AAD6149C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5</a:t>
            </a:fld>
            <a:endParaRPr lang="de-DE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E40357D-C0FD-4C64-9D09-ABFEC6F5218D}"/>
              </a:ext>
            </a:extLst>
          </p:cNvPr>
          <p:cNvSpPr/>
          <p:nvPr/>
        </p:nvSpPr>
        <p:spPr>
          <a:xfrm>
            <a:off x="4733925" y="2190750"/>
            <a:ext cx="1362075" cy="247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2FF173A-6616-4A9C-9D08-834761751CB8}"/>
              </a:ext>
            </a:extLst>
          </p:cNvPr>
          <p:cNvSpPr/>
          <p:nvPr/>
        </p:nvSpPr>
        <p:spPr>
          <a:xfrm>
            <a:off x="6105525" y="2190750"/>
            <a:ext cx="1362075" cy="2476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79A5E8-ECD3-4048-9770-A23D6B915ADA}"/>
              </a:ext>
            </a:extLst>
          </p:cNvPr>
          <p:cNvSpPr/>
          <p:nvPr/>
        </p:nvSpPr>
        <p:spPr>
          <a:xfrm>
            <a:off x="257175" y="2190750"/>
            <a:ext cx="3486150" cy="247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dirty="0"/>
              <a:t>32-bit</a:t>
            </a:r>
            <a:endParaRPr kumimoji="1" lang="ja-JP" altLang="en-US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2C049D1-67EA-4295-B841-42023A91ABE3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3743325" y="2314575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39544B9-B4EA-41D4-B78D-DF12EBCA0C6B}"/>
              </a:ext>
            </a:extLst>
          </p:cNvPr>
          <p:cNvSpPr txBox="1"/>
          <p:nvPr/>
        </p:nvSpPr>
        <p:spPr>
          <a:xfrm>
            <a:off x="4733925" y="181927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dirty="0"/>
              <a:t>      </a:t>
            </a:r>
            <a:r>
              <a:rPr kumimoji="1" lang="de-DE" altLang="ja-JP" dirty="0">
                <a:solidFill>
                  <a:schemeClr val="accent1">
                    <a:lumMod val="75000"/>
                  </a:schemeClr>
                </a:solidFill>
              </a:rPr>
              <a:t>MSB</a:t>
            </a:r>
            <a:r>
              <a:rPr kumimoji="1" lang="de-DE" altLang="ja-JP" dirty="0"/>
              <a:t>                   </a:t>
            </a:r>
            <a:r>
              <a:rPr kumimoji="1" lang="de-DE" altLang="ja-JP" dirty="0">
                <a:solidFill>
                  <a:schemeClr val="accent2">
                    <a:lumMod val="75000"/>
                  </a:schemeClr>
                </a:solidFill>
              </a:rPr>
              <a:t>LSB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BA7D799-E3BC-4382-93A7-20B959AFF359}"/>
              </a:ext>
            </a:extLst>
          </p:cNvPr>
          <p:cNvSpPr/>
          <p:nvPr/>
        </p:nvSpPr>
        <p:spPr>
          <a:xfrm>
            <a:off x="4733925" y="2564844"/>
            <a:ext cx="681037" cy="247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13DCD95-5D05-44B3-9911-DA955FCD88AC}"/>
              </a:ext>
            </a:extLst>
          </p:cNvPr>
          <p:cNvSpPr/>
          <p:nvPr/>
        </p:nvSpPr>
        <p:spPr>
          <a:xfrm>
            <a:off x="5414962" y="2564844"/>
            <a:ext cx="690563" cy="2476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6C0C17D-4BD2-4D57-BA60-21A348DF18D0}"/>
              </a:ext>
            </a:extLst>
          </p:cNvPr>
          <p:cNvSpPr/>
          <p:nvPr/>
        </p:nvSpPr>
        <p:spPr>
          <a:xfrm>
            <a:off x="4733925" y="2938462"/>
            <a:ext cx="323850" cy="247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B3080E7-E226-43D3-8EFF-53FF87E4B7DE}"/>
              </a:ext>
            </a:extLst>
          </p:cNvPr>
          <p:cNvSpPr/>
          <p:nvPr/>
        </p:nvSpPr>
        <p:spPr>
          <a:xfrm>
            <a:off x="5057775" y="2938462"/>
            <a:ext cx="357187" cy="2476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3218AB6F-D711-44D3-A6EF-C863C9D11BA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971925" y="2314575"/>
            <a:ext cx="762000" cy="3740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1BAE4C0B-DAAE-488A-AF30-D0385D337034}"/>
              </a:ext>
            </a:extLst>
          </p:cNvPr>
          <p:cNvCxnSpPr>
            <a:cxnSpLocks/>
            <a:endCxn id="23" idx="1"/>
          </p:cNvCxnSpPr>
          <p:nvPr/>
        </p:nvCxnSpPr>
        <p:spPr>
          <a:xfrm rot="16200000" flipH="1">
            <a:off x="4026694" y="2355056"/>
            <a:ext cx="747712" cy="6667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EC0CCEC-1D40-406D-A9C0-B10E4A5EC899}"/>
              </a:ext>
            </a:extLst>
          </p:cNvPr>
          <p:cNvSpPr txBox="1"/>
          <p:nvPr/>
        </p:nvSpPr>
        <p:spPr>
          <a:xfrm>
            <a:off x="6196013" y="2501622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8-bit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AD45229-2F81-4FE1-B6AA-344A3F916163}"/>
              </a:ext>
            </a:extLst>
          </p:cNvPr>
          <p:cNvSpPr txBox="1"/>
          <p:nvPr/>
        </p:nvSpPr>
        <p:spPr>
          <a:xfrm>
            <a:off x="5514976" y="2877621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4-bit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A6AE4CA-4E3E-4138-A1EC-67925C8E5BA3}"/>
              </a:ext>
            </a:extLst>
          </p:cNvPr>
          <p:cNvSpPr txBox="1"/>
          <p:nvPr/>
        </p:nvSpPr>
        <p:spPr>
          <a:xfrm>
            <a:off x="7539035" y="2129909"/>
            <a:ext cx="79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dirty="0"/>
              <a:t>16-bit</a:t>
            </a:r>
            <a:endParaRPr kumimoji="1" lang="ja-JP" altLang="en-US" dirty="0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C8F277A-D584-42B8-8EF4-C67E4D8A54D5}"/>
              </a:ext>
            </a:extLst>
          </p:cNvPr>
          <p:cNvSpPr/>
          <p:nvPr/>
        </p:nvSpPr>
        <p:spPr>
          <a:xfrm>
            <a:off x="8610600" y="3671092"/>
            <a:ext cx="1733550" cy="7048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dirty="0">
                <a:solidFill>
                  <a:schemeClr val="tx1"/>
                </a:solidFill>
              </a:rPr>
              <a:t>Hamming Code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83B5C7B-441B-425E-A0F1-7830F6F175F7}"/>
              </a:ext>
            </a:extLst>
          </p:cNvPr>
          <p:cNvCxnSpPr>
            <a:stCxn id="22" idx="3"/>
            <a:endCxn id="34" idx="1"/>
          </p:cNvCxnSpPr>
          <p:nvPr/>
        </p:nvCxnSpPr>
        <p:spPr>
          <a:xfrm>
            <a:off x="6105525" y="2688669"/>
            <a:ext cx="2505075" cy="1334849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13AEE10-B49E-4BEA-B521-DAA2F44A7FAF}"/>
              </a:ext>
            </a:extLst>
          </p:cNvPr>
          <p:cNvCxnSpPr>
            <a:stCxn id="24" idx="3"/>
            <a:endCxn id="34" idx="1"/>
          </p:cNvCxnSpPr>
          <p:nvPr/>
        </p:nvCxnSpPr>
        <p:spPr>
          <a:xfrm>
            <a:off x="5414962" y="3062287"/>
            <a:ext cx="3195638" cy="961231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D9C56D26-41FF-4938-9494-EB966C746EB0}"/>
              </a:ext>
            </a:extLst>
          </p:cNvPr>
          <p:cNvCxnSpPr>
            <a:stCxn id="12" idx="3"/>
            <a:endCxn id="34" idx="1"/>
          </p:cNvCxnSpPr>
          <p:nvPr/>
        </p:nvCxnSpPr>
        <p:spPr>
          <a:xfrm>
            <a:off x="7467600" y="2314575"/>
            <a:ext cx="1143000" cy="1708943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F40DC1C-09F9-49AF-807F-C8D07D9636AA}"/>
              </a:ext>
            </a:extLst>
          </p:cNvPr>
          <p:cNvSpPr txBox="1"/>
          <p:nvPr/>
        </p:nvSpPr>
        <p:spPr>
          <a:xfrm>
            <a:off x="8148637" y="2862539"/>
            <a:ext cx="293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dirty="0">
                <a:solidFill>
                  <a:schemeClr val="accent2">
                    <a:lumMod val="75000"/>
                  </a:schemeClr>
                </a:solidFill>
              </a:rPr>
              <a:t>use Hamming Code to protect LSB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B57ADC4-E466-42B9-B095-48FFDCACB8C5}"/>
              </a:ext>
            </a:extLst>
          </p:cNvPr>
          <p:cNvSpPr/>
          <p:nvPr/>
        </p:nvSpPr>
        <p:spPr>
          <a:xfrm>
            <a:off x="4733925" y="4929465"/>
            <a:ext cx="2733675" cy="2476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dirty="0"/>
              <a:t>16-bit</a:t>
            </a:r>
            <a:endParaRPr kumimoji="1" lang="ja-JP" altLang="en-US" dirty="0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6AFB0AA-788E-4743-B4FA-F520BDF7B1E1}"/>
              </a:ext>
            </a:extLst>
          </p:cNvPr>
          <p:cNvSpPr/>
          <p:nvPr/>
        </p:nvSpPr>
        <p:spPr>
          <a:xfrm>
            <a:off x="4743452" y="4523582"/>
            <a:ext cx="1362073" cy="2476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dirty="0"/>
              <a:t>8-bit</a:t>
            </a:r>
            <a:endParaRPr kumimoji="1" lang="ja-JP" altLang="en-US" dirty="0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DB1E60C-CEF5-4D1E-9324-97366BCA2943}"/>
              </a:ext>
            </a:extLst>
          </p:cNvPr>
          <p:cNvSpPr/>
          <p:nvPr/>
        </p:nvSpPr>
        <p:spPr>
          <a:xfrm>
            <a:off x="4743453" y="4126567"/>
            <a:ext cx="671509" cy="2476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de-DE" altLang="ja-JP" dirty="0"/>
              <a:t>4-bit</a:t>
            </a:r>
            <a:endParaRPr kumimoji="1" lang="ja-JP" altLang="en-US" dirty="0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D36CEC26-B8E8-40F7-AA8C-84227B185311}"/>
              </a:ext>
            </a:extLst>
          </p:cNvPr>
          <p:cNvCxnSpPr>
            <a:stCxn id="51" idx="3"/>
            <a:endCxn id="34" idx="1"/>
          </p:cNvCxnSpPr>
          <p:nvPr/>
        </p:nvCxnSpPr>
        <p:spPr>
          <a:xfrm flipV="1">
            <a:off x="5414962" y="4023518"/>
            <a:ext cx="3195638" cy="2268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2AF9DFF5-07B6-4EE6-8C4C-51F711ABB5B0}"/>
              </a:ext>
            </a:extLst>
          </p:cNvPr>
          <p:cNvCxnSpPr>
            <a:stCxn id="50" idx="3"/>
            <a:endCxn id="34" idx="1"/>
          </p:cNvCxnSpPr>
          <p:nvPr/>
        </p:nvCxnSpPr>
        <p:spPr>
          <a:xfrm flipV="1">
            <a:off x="6105525" y="4023518"/>
            <a:ext cx="2505075" cy="623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7912983-AE81-4609-A2C4-3809703EB04C}"/>
              </a:ext>
            </a:extLst>
          </p:cNvPr>
          <p:cNvCxnSpPr>
            <a:stCxn id="47" idx="3"/>
            <a:endCxn id="34" idx="1"/>
          </p:cNvCxnSpPr>
          <p:nvPr/>
        </p:nvCxnSpPr>
        <p:spPr>
          <a:xfrm flipV="1">
            <a:off x="7467600" y="4023518"/>
            <a:ext cx="1143000" cy="1029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E669569D-7D67-44F9-A0BB-B63AC47BFC81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3389780" y="2896719"/>
            <a:ext cx="1935818" cy="7715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5E1B9B37-2435-422B-9511-2F30E0DC31F8}"/>
              </a:ext>
            </a:extLst>
          </p:cNvPr>
          <p:cNvCxnSpPr>
            <a:cxnSpLocks/>
            <a:endCxn id="50" idx="1"/>
          </p:cNvCxnSpPr>
          <p:nvPr/>
        </p:nvCxnSpPr>
        <p:spPr>
          <a:xfrm rot="16200000" flipH="1">
            <a:off x="3191271" y="3095226"/>
            <a:ext cx="2332834" cy="7715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CCCA45C0-6500-4B81-AD96-368037E37BC8}"/>
              </a:ext>
            </a:extLst>
          </p:cNvPr>
          <p:cNvCxnSpPr>
            <a:cxnSpLocks/>
            <a:endCxn id="47" idx="1"/>
          </p:cNvCxnSpPr>
          <p:nvPr/>
        </p:nvCxnSpPr>
        <p:spPr>
          <a:xfrm rot="16200000" flipH="1">
            <a:off x="3031191" y="3350556"/>
            <a:ext cx="2738718" cy="6667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3B5F82DE-EB53-427B-A67D-5446BE7D4D78}"/>
              </a:ext>
            </a:extLst>
          </p:cNvPr>
          <p:cNvSpPr txBox="1"/>
          <p:nvPr/>
        </p:nvSpPr>
        <p:spPr>
          <a:xfrm>
            <a:off x="3743325" y="1819275"/>
            <a:ext cx="102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Quantize</a:t>
            </a:r>
            <a:endParaRPr kumimoji="1" lang="ja-JP" altLang="en-US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430A4B10-5FED-4CF0-A2A2-1D89DD5C0867}"/>
              </a:ext>
            </a:extLst>
          </p:cNvPr>
          <p:cNvSpPr txBox="1"/>
          <p:nvPr/>
        </p:nvSpPr>
        <p:spPr>
          <a:xfrm>
            <a:off x="4703430" y="3721436"/>
            <a:ext cx="191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No Splitting of bits</a:t>
            </a:r>
            <a:endParaRPr kumimoji="1" lang="ja-JP" altLang="en-US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AEE78B3-F763-4CD8-992B-91B91B98959B}"/>
              </a:ext>
            </a:extLst>
          </p:cNvPr>
          <p:cNvSpPr txBox="1"/>
          <p:nvPr/>
        </p:nvSpPr>
        <p:spPr>
          <a:xfrm>
            <a:off x="352425" y="4023517"/>
            <a:ext cx="3581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dirty="0"/>
              <a:t>Number of Parity depends on the number of protected bits:</a:t>
            </a:r>
          </a:p>
          <a:p>
            <a:r>
              <a:rPr kumimoji="1" lang="de-DE" altLang="ja-JP" b="1" dirty="0"/>
              <a:t>1-4 data bits </a:t>
            </a:r>
            <a:r>
              <a:rPr kumimoji="1" lang="de-DE" altLang="ja-JP" dirty="0"/>
              <a:t>require </a:t>
            </a:r>
            <a:r>
              <a:rPr kumimoji="1" lang="de-DE" altLang="ja-JP" b="1" dirty="0"/>
              <a:t>3 parity bits</a:t>
            </a:r>
            <a:r>
              <a:rPr kumimoji="1" lang="de-DE" altLang="ja-JP" dirty="0"/>
              <a:t>,</a:t>
            </a:r>
          </a:p>
          <a:p>
            <a:r>
              <a:rPr kumimoji="1" lang="de-DE" altLang="ja-JP" b="1" dirty="0"/>
              <a:t>5-11 data bits </a:t>
            </a:r>
            <a:r>
              <a:rPr kumimoji="1" lang="de-DE" altLang="ja-JP" dirty="0"/>
              <a:t>require </a:t>
            </a:r>
            <a:r>
              <a:rPr kumimoji="1" lang="de-DE" altLang="ja-JP" b="1" dirty="0"/>
              <a:t>4 parity bits</a:t>
            </a:r>
          </a:p>
          <a:p>
            <a:r>
              <a:rPr kumimoji="1" lang="de-DE" altLang="ja-JP" b="1" dirty="0"/>
              <a:t>12-16 data bits </a:t>
            </a:r>
            <a:r>
              <a:rPr kumimoji="1" lang="de-DE" altLang="ja-JP" dirty="0"/>
              <a:t>require </a:t>
            </a:r>
            <a:r>
              <a:rPr kumimoji="1" lang="de-DE" altLang="ja-JP" b="1" dirty="0"/>
              <a:t>5 parity bits</a:t>
            </a:r>
            <a:endParaRPr kumimoji="1" lang="ja-JP" altLang="en-US" b="1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966D8B1-5E76-46CC-98E8-8120EB2B8FF0}"/>
              </a:ext>
            </a:extLst>
          </p:cNvPr>
          <p:cNvSpPr txBox="1"/>
          <p:nvPr/>
        </p:nvSpPr>
        <p:spPr>
          <a:xfrm>
            <a:off x="7989693" y="4488764"/>
            <a:ext cx="293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dirty="0">
                <a:solidFill>
                  <a:schemeClr val="accent1">
                    <a:lumMod val="50000"/>
                  </a:schemeClr>
                </a:solidFill>
              </a:rPr>
              <a:t>use Hamming Code to protect all bits</a:t>
            </a:r>
            <a:endParaRPr kumimoji="1" lang="ja-JP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72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8C5D-47E5-4035-895E-9A62B8CB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/>
          <a:lstStyle/>
          <a:p>
            <a:pPr algn="ctr"/>
            <a:r>
              <a:rPr lang="de-DE" b="1" dirty="0" err="1"/>
              <a:t>Methodology</a:t>
            </a:r>
            <a:r>
              <a:rPr lang="de-DE" b="1" dirty="0"/>
              <a:t>: </a:t>
            </a:r>
            <a:r>
              <a:rPr lang="de-DE" dirty="0"/>
              <a:t>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8BC1B-8A96-4EE2-98AA-3E0EBA282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LeNet5</a:t>
            </a:r>
          </a:p>
          <a:p>
            <a:endParaRPr lang="en-US" dirty="0"/>
          </a:p>
          <a:p>
            <a:r>
              <a:rPr lang="en-US" dirty="0"/>
              <a:t>Trained on MNIST dataset </a:t>
            </a:r>
          </a:p>
          <a:p>
            <a:endParaRPr lang="en-US" dirty="0"/>
          </a:p>
          <a:p>
            <a:r>
              <a:rPr lang="en-US" dirty="0"/>
              <a:t>number of steps: 2000</a:t>
            </a:r>
          </a:p>
          <a:p>
            <a:endParaRPr lang="en-US" dirty="0"/>
          </a:p>
          <a:p>
            <a:r>
              <a:rPr lang="en-US" dirty="0"/>
              <a:t>batch size: 500</a:t>
            </a:r>
          </a:p>
          <a:p>
            <a:endParaRPr lang="en-US" dirty="0"/>
          </a:p>
          <a:p>
            <a:r>
              <a:rPr lang="en-US" dirty="0"/>
              <a:t>Originally 32-bit weights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3C175-4169-43DF-929A-02C16855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53105-BC00-4FF4-A40D-5156A5F8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6</a:t>
            </a:fld>
            <a:endParaRPr lang="de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707191-D0E3-47D6-B030-6544998A247B}"/>
              </a:ext>
            </a:extLst>
          </p:cNvPr>
          <p:cNvSpPr/>
          <p:nvPr/>
        </p:nvSpPr>
        <p:spPr>
          <a:xfrm>
            <a:off x="8932717" y="248660"/>
            <a:ext cx="1458190" cy="43237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Conv</a:t>
            </a:r>
            <a:endParaRPr lang="de-D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A50B14-AE92-45CC-A0F0-BBEE8612772B}"/>
              </a:ext>
            </a:extLst>
          </p:cNvPr>
          <p:cNvSpPr/>
          <p:nvPr/>
        </p:nvSpPr>
        <p:spPr>
          <a:xfrm>
            <a:off x="9328728" y="912739"/>
            <a:ext cx="678869" cy="4323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ReLU</a:t>
            </a:r>
            <a:endParaRPr lang="de-DE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05E928-26C0-432C-9DEB-1EC46B03EAD2}"/>
              </a:ext>
            </a:extLst>
          </p:cNvPr>
          <p:cNvSpPr/>
          <p:nvPr/>
        </p:nvSpPr>
        <p:spPr>
          <a:xfrm>
            <a:off x="8932714" y="1582667"/>
            <a:ext cx="1458193" cy="67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MaxPool</a:t>
            </a:r>
            <a:endParaRPr lang="de-DE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E0530B-4D91-41A5-8E3E-4E1020206F18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661812" y="681037"/>
            <a:ext cx="6351" cy="23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276A22-A4D9-41ED-8BF9-AFCA0738FBFB}"/>
              </a:ext>
            </a:extLst>
          </p:cNvPr>
          <p:cNvCxnSpPr/>
          <p:nvPr/>
        </p:nvCxnSpPr>
        <p:spPr>
          <a:xfrm flipH="1">
            <a:off x="9657768" y="1348041"/>
            <a:ext cx="1" cy="24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F2A7BD-18EE-45AA-AE41-DB2D27C72C87}"/>
              </a:ext>
            </a:extLst>
          </p:cNvPr>
          <p:cNvSpPr/>
          <p:nvPr/>
        </p:nvSpPr>
        <p:spPr>
          <a:xfrm>
            <a:off x="8928673" y="2475853"/>
            <a:ext cx="1458190" cy="43237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Conv</a:t>
            </a:r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887DF6-6667-409F-83E7-32C54D2791B6}"/>
              </a:ext>
            </a:extLst>
          </p:cNvPr>
          <p:cNvSpPr/>
          <p:nvPr/>
        </p:nvSpPr>
        <p:spPr>
          <a:xfrm>
            <a:off x="9331031" y="3155809"/>
            <a:ext cx="662709" cy="4323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ReLU</a:t>
            </a:r>
            <a:endParaRPr lang="de-DE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0A1D614-646F-4373-8938-638EA8CAD912}"/>
              </a:ext>
            </a:extLst>
          </p:cNvPr>
          <p:cNvSpPr/>
          <p:nvPr/>
        </p:nvSpPr>
        <p:spPr>
          <a:xfrm>
            <a:off x="8928670" y="3809860"/>
            <a:ext cx="1458193" cy="67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MaxPool</a:t>
            </a:r>
            <a:endParaRPr lang="de-DE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5F7ABB-14BF-439B-8220-7EE0DD698EE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657768" y="2908230"/>
            <a:ext cx="4618" cy="24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61A1EF-124D-45FA-9543-9B0FAE5643F5}"/>
              </a:ext>
            </a:extLst>
          </p:cNvPr>
          <p:cNvCxnSpPr/>
          <p:nvPr/>
        </p:nvCxnSpPr>
        <p:spPr>
          <a:xfrm flipH="1">
            <a:off x="9653724" y="3575234"/>
            <a:ext cx="1" cy="24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094BE3-B3E3-494C-B692-B10F0E5B948E}"/>
              </a:ext>
            </a:extLst>
          </p:cNvPr>
          <p:cNvCxnSpPr/>
          <p:nvPr/>
        </p:nvCxnSpPr>
        <p:spPr>
          <a:xfrm flipH="1">
            <a:off x="9661810" y="2228274"/>
            <a:ext cx="1" cy="24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9BCD05B-3C38-4165-AE63-485240A53535}"/>
              </a:ext>
            </a:extLst>
          </p:cNvPr>
          <p:cNvSpPr/>
          <p:nvPr/>
        </p:nvSpPr>
        <p:spPr>
          <a:xfrm>
            <a:off x="8932715" y="4703046"/>
            <a:ext cx="1458190" cy="43237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Conv</a:t>
            </a:r>
            <a:endParaRPr lang="de-DE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F64B01-E3F8-419D-B009-6841D178C973}"/>
              </a:ext>
            </a:extLst>
          </p:cNvPr>
          <p:cNvSpPr/>
          <p:nvPr/>
        </p:nvSpPr>
        <p:spPr>
          <a:xfrm>
            <a:off x="9328727" y="5383002"/>
            <a:ext cx="665013" cy="4323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ReLU</a:t>
            </a:r>
            <a:endParaRPr lang="de-DE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045DAE-60C3-4F1E-A348-CCEB6310D343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9661234" y="5135423"/>
            <a:ext cx="576" cy="24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AA95CC-943A-42F6-8C8E-9AFE038AB6A8}"/>
              </a:ext>
            </a:extLst>
          </p:cNvPr>
          <p:cNvCxnSpPr/>
          <p:nvPr/>
        </p:nvCxnSpPr>
        <p:spPr>
          <a:xfrm flipH="1">
            <a:off x="9665852" y="4455467"/>
            <a:ext cx="1" cy="24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62BF9B8-74F2-4E49-8D2D-A643380601D3}"/>
              </a:ext>
            </a:extLst>
          </p:cNvPr>
          <p:cNvSpPr/>
          <p:nvPr/>
        </p:nvSpPr>
        <p:spPr>
          <a:xfrm>
            <a:off x="7578150" y="5317475"/>
            <a:ext cx="1182255" cy="5875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FC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5E55CDA-6BF2-4FE9-A2FC-1336E357B6FF}"/>
              </a:ext>
            </a:extLst>
          </p:cNvPr>
          <p:cNvCxnSpPr>
            <a:stCxn id="21" idx="1"/>
            <a:endCxn id="32" idx="3"/>
          </p:cNvCxnSpPr>
          <p:nvPr/>
        </p:nvCxnSpPr>
        <p:spPr>
          <a:xfrm flipH="1">
            <a:off x="8760405" y="5599191"/>
            <a:ext cx="568322" cy="12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832E235-36DB-449B-B02D-6D72138BFF55}"/>
              </a:ext>
            </a:extLst>
          </p:cNvPr>
          <p:cNvSpPr/>
          <p:nvPr/>
        </p:nvSpPr>
        <p:spPr>
          <a:xfrm>
            <a:off x="7580316" y="3867870"/>
            <a:ext cx="1182255" cy="5875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2C579C-1392-444E-9D74-2BDF294FC50C}"/>
              </a:ext>
            </a:extLst>
          </p:cNvPr>
          <p:cNvSpPr/>
          <p:nvPr/>
        </p:nvSpPr>
        <p:spPr>
          <a:xfrm>
            <a:off x="7835759" y="4705144"/>
            <a:ext cx="665013" cy="4323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ReLU</a:t>
            </a:r>
            <a:endParaRPr lang="de-DE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749519-0DD1-4F8D-A84E-7E04A9066505}"/>
              </a:ext>
            </a:extLst>
          </p:cNvPr>
          <p:cNvCxnSpPr>
            <a:stCxn id="32" idx="0"/>
            <a:endCxn id="36" idx="2"/>
          </p:cNvCxnSpPr>
          <p:nvPr/>
        </p:nvCxnSpPr>
        <p:spPr>
          <a:xfrm flipH="1" flipV="1">
            <a:off x="8168266" y="5137521"/>
            <a:ext cx="1012" cy="17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241AEA-8604-43F4-BB8B-67972EAACB29}"/>
              </a:ext>
            </a:extLst>
          </p:cNvPr>
          <p:cNvCxnSpPr>
            <a:stCxn id="36" idx="0"/>
            <a:endCxn id="35" idx="2"/>
          </p:cNvCxnSpPr>
          <p:nvPr/>
        </p:nvCxnSpPr>
        <p:spPr>
          <a:xfrm flipV="1">
            <a:off x="8168266" y="4455467"/>
            <a:ext cx="3178" cy="249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D9B586A2-B139-471E-B62F-E2385150685F}"/>
              </a:ext>
            </a:extLst>
          </p:cNvPr>
          <p:cNvSpPr/>
          <p:nvPr/>
        </p:nvSpPr>
        <p:spPr>
          <a:xfrm>
            <a:off x="7486222" y="3030596"/>
            <a:ext cx="1364086" cy="58759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SoftMax</a:t>
            </a:r>
            <a:endParaRPr lang="de-DE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7D89ED0-7E16-4838-B9A8-A64092A51FA8}"/>
              </a:ext>
            </a:extLst>
          </p:cNvPr>
          <p:cNvCxnSpPr>
            <a:stCxn id="35" idx="0"/>
            <a:endCxn id="41" idx="4"/>
          </p:cNvCxnSpPr>
          <p:nvPr/>
        </p:nvCxnSpPr>
        <p:spPr>
          <a:xfrm flipH="1" flipV="1">
            <a:off x="8168265" y="3618193"/>
            <a:ext cx="3179" cy="249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0D0145E-4D0C-4661-81D1-5FEB7035400D}"/>
              </a:ext>
            </a:extLst>
          </p:cNvPr>
          <p:cNvSpPr/>
          <p:nvPr/>
        </p:nvSpPr>
        <p:spPr>
          <a:xfrm>
            <a:off x="10677236" y="248660"/>
            <a:ext cx="1405659" cy="4323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Input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7B3131C-184F-43D1-8AA3-D3F536458314}"/>
              </a:ext>
            </a:extLst>
          </p:cNvPr>
          <p:cNvCxnSpPr>
            <a:stCxn id="41" idx="0"/>
          </p:cNvCxnSpPr>
          <p:nvPr/>
        </p:nvCxnSpPr>
        <p:spPr>
          <a:xfrm flipV="1">
            <a:off x="8168265" y="2669309"/>
            <a:ext cx="0" cy="36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9FF480D-2822-4E90-8CD5-6E2521D9E60F}"/>
              </a:ext>
            </a:extLst>
          </p:cNvPr>
          <p:cNvCxnSpPr>
            <a:stCxn id="44" idx="1"/>
            <a:endCxn id="6" idx="3"/>
          </p:cNvCxnSpPr>
          <p:nvPr/>
        </p:nvCxnSpPr>
        <p:spPr>
          <a:xfrm flipH="1">
            <a:off x="10390907" y="464849"/>
            <a:ext cx="2863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7AC6E6E1-62E8-41A8-8D65-A53DE724863B}"/>
              </a:ext>
            </a:extLst>
          </p:cNvPr>
          <p:cNvSpPr/>
          <p:nvPr/>
        </p:nvSpPr>
        <p:spPr>
          <a:xfrm>
            <a:off x="7470345" y="2239709"/>
            <a:ext cx="1405659" cy="4323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8244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F6E9-6CE2-488D-BC47-F9DE5CD0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 err="1"/>
              <a:t>Methodology</a:t>
            </a:r>
            <a:r>
              <a:rPr lang="de-DE" b="1" dirty="0"/>
              <a:t>: </a:t>
            </a:r>
            <a:r>
              <a:rPr lang="de-DE" dirty="0" err="1"/>
              <a:t>Quantization</a:t>
            </a:r>
            <a:endParaRPr lang="de-DE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310745-A26B-4371-AFFE-21A0A3F01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794" y="4837160"/>
            <a:ext cx="3719096" cy="98174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6A416-73DD-427B-BC67-2B9FA1BD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AA5BB-42DB-4E25-A11F-45F80988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7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D0C136-ABCA-4B66-868F-88A748167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594" y="1690688"/>
            <a:ext cx="4710206" cy="409849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64A9C3-24B6-4601-BB4D-7E07AC4B27E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3 </a:t>
            </a:r>
            <a:r>
              <a:rPr lang="de-DE" dirty="0" err="1"/>
              <a:t>Quantizations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16-Bit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8-Bit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4-Bit</a:t>
            </a:r>
          </a:p>
          <a:p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A7046-18AF-4498-8A6F-FCAFDD89B718}"/>
              </a:ext>
            </a:extLst>
          </p:cNvPr>
          <p:cNvSpPr txBox="1"/>
          <p:nvPr/>
        </p:nvSpPr>
        <p:spPr>
          <a:xfrm>
            <a:off x="6643593" y="5789179"/>
            <a:ext cx="548375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 err="1"/>
              <a:t>Edited</a:t>
            </a:r>
            <a:r>
              <a:rPr lang="de-DE" sz="1050" dirty="0"/>
              <a:t> Image </a:t>
            </a:r>
            <a:r>
              <a:rPr lang="de-DE" sz="1050" dirty="0" err="1"/>
              <a:t>from</a:t>
            </a:r>
            <a:r>
              <a:rPr lang="de-DE" sz="1050" dirty="0"/>
              <a:t> </a:t>
            </a:r>
            <a:r>
              <a:rPr lang="en-US" sz="1050" dirty="0"/>
              <a:t>J. Wu and K. </a:t>
            </a:r>
            <a:r>
              <a:rPr lang="en-US" sz="1050" dirty="0" err="1"/>
              <a:t>Namba</a:t>
            </a:r>
            <a:r>
              <a:rPr lang="en-US" sz="1050" dirty="0"/>
              <a:t>, “</a:t>
            </a:r>
            <a:r>
              <a:rPr lang="en-US" sz="1050" dirty="0" err="1"/>
              <a:t>Sram</a:t>
            </a:r>
            <a:r>
              <a:rPr lang="en-US" sz="1050" dirty="0"/>
              <a:t>-based efficiency memory model for quantized convolutional neural networks,” in 2023 International Conference on Consumer Electronics - Taiwan (ICCE-Taiwan), 2023, pp. 499–500.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2660972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2D7D8-5520-4EDF-9556-D0C37A702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250"/>
          </a:xfrm>
        </p:spPr>
        <p:txBody>
          <a:bodyPr>
            <a:normAutofit lnSpcReduction="10000"/>
          </a:bodyPr>
          <a:lstStyle/>
          <a:p>
            <a:r>
              <a:rPr lang="de-DE" dirty="0"/>
              <a:t>4-bit </a:t>
            </a: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Set parity to 1 if odd: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81AD3F4-65DC-45DD-B8D8-AE41FD5FB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281299"/>
              </p:ext>
            </p:extLst>
          </p:nvPr>
        </p:nvGraphicFramePr>
        <p:xfrm>
          <a:off x="838200" y="2247005"/>
          <a:ext cx="10515603" cy="109728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103905033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8305084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3927884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9013857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234399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94191845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092912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952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Parity 1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Parity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1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Parity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8184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730719"/>
                  </a:ext>
                </a:extLst>
              </a:tr>
            </a:tbl>
          </a:graphicData>
        </a:graphic>
      </p:graphicFrame>
      <p:sp>
        <p:nvSpPr>
          <p:cNvPr id="27" name="Oval 26">
            <a:extLst>
              <a:ext uri="{FF2B5EF4-FFF2-40B4-BE49-F238E27FC236}">
                <a16:creationId xmlns:a16="http://schemas.microsoft.com/office/drawing/2014/main" id="{274EE2DD-64A4-4B6C-B13A-EE02643B8F81}"/>
              </a:ext>
            </a:extLst>
          </p:cNvPr>
          <p:cNvSpPr/>
          <p:nvPr/>
        </p:nvSpPr>
        <p:spPr>
          <a:xfrm>
            <a:off x="1049864" y="2551852"/>
            <a:ext cx="1049868" cy="7890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CB20A0-D787-4F61-83A5-C5CC35592DF5}"/>
              </a:ext>
            </a:extLst>
          </p:cNvPr>
          <p:cNvSpPr/>
          <p:nvPr/>
        </p:nvSpPr>
        <p:spPr>
          <a:xfrm>
            <a:off x="4047065" y="2521320"/>
            <a:ext cx="1049868" cy="721413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86062E5-2624-467B-A1CE-11F8FBE8703E}"/>
              </a:ext>
            </a:extLst>
          </p:cNvPr>
          <p:cNvSpPr/>
          <p:nvPr/>
        </p:nvSpPr>
        <p:spPr>
          <a:xfrm>
            <a:off x="7044266" y="2551853"/>
            <a:ext cx="1049868" cy="7890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EC2EB62-FF36-45C6-A6B0-FF8B057B1777}"/>
              </a:ext>
            </a:extLst>
          </p:cNvPr>
          <p:cNvSpPr/>
          <p:nvPr/>
        </p:nvSpPr>
        <p:spPr>
          <a:xfrm>
            <a:off x="10041467" y="2521320"/>
            <a:ext cx="1049868" cy="89387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40A0E82-82F2-42FA-BC31-4ACFA290511E}"/>
              </a:ext>
            </a:extLst>
          </p:cNvPr>
          <p:cNvSpPr/>
          <p:nvPr/>
        </p:nvSpPr>
        <p:spPr>
          <a:xfrm>
            <a:off x="2582333" y="2447027"/>
            <a:ext cx="2413000" cy="8938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33A6A93-DAFF-48DB-B040-D0DD4E3BE5E2}"/>
              </a:ext>
            </a:extLst>
          </p:cNvPr>
          <p:cNvSpPr/>
          <p:nvPr/>
        </p:nvSpPr>
        <p:spPr>
          <a:xfrm>
            <a:off x="8678335" y="2521320"/>
            <a:ext cx="2413000" cy="9214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65241B-2BFB-429B-B65F-B047274DD7F6}"/>
              </a:ext>
            </a:extLst>
          </p:cNvPr>
          <p:cNvSpPr/>
          <p:nvPr/>
        </p:nvSpPr>
        <p:spPr>
          <a:xfrm>
            <a:off x="5189643" y="2521320"/>
            <a:ext cx="6342379" cy="893871"/>
          </a:xfrm>
          <a:prstGeom prst="ellipse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A9A5C-9BDE-4763-ADEE-F0F3647A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B5152-4AF6-4C9F-8CA8-EB76EF30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8</a:t>
            </a:fld>
            <a:endParaRPr lang="de-DE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B8A49CC-159E-4679-A38A-EE6A54399CCE}"/>
              </a:ext>
            </a:extLst>
          </p:cNvPr>
          <p:cNvSpPr txBox="1">
            <a:spLocks/>
          </p:cNvSpPr>
          <p:nvPr/>
        </p:nvSpPr>
        <p:spPr>
          <a:xfrm>
            <a:off x="312420" y="365125"/>
            <a:ext cx="115671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 err="1"/>
              <a:t>Methodology</a:t>
            </a:r>
            <a:r>
              <a:rPr lang="de-DE" b="1" dirty="0"/>
              <a:t>:</a:t>
            </a:r>
            <a:r>
              <a:rPr lang="de-DE" dirty="0"/>
              <a:t> ECC – Hamming Code </a:t>
            </a:r>
            <a:r>
              <a:rPr lang="de-DE" dirty="0" err="1"/>
              <a:t>Correction</a:t>
            </a:r>
            <a:endParaRPr lang="de-DE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128F46-08DD-4A71-9892-87D856640D32}"/>
              </a:ext>
            </a:extLst>
          </p:cNvPr>
          <p:cNvSpPr txBox="1"/>
          <p:nvPr/>
        </p:nvSpPr>
        <p:spPr>
          <a:xfrm>
            <a:off x="1036103" y="4170299"/>
            <a:ext cx="7058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2400" dirty="0">
                <a:solidFill>
                  <a:schemeClr val="accent1">
                    <a:lumMod val="75000"/>
                  </a:schemeClr>
                </a:solidFill>
              </a:rPr>
              <a:t>P1  1  1  0 =&gt; P1 = 0</a:t>
            </a:r>
            <a:endParaRPr kumimoji="1" lang="ja-JP" altLang="en-US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DB36E52-F0A1-4A6A-B70E-5FB2518D742C}"/>
              </a:ext>
            </a:extLst>
          </p:cNvPr>
          <p:cNvSpPr txBox="1"/>
          <p:nvPr/>
        </p:nvSpPr>
        <p:spPr>
          <a:xfrm>
            <a:off x="1036103" y="4935019"/>
            <a:ext cx="2876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2400" dirty="0">
                <a:solidFill>
                  <a:schemeClr val="accent4">
                    <a:lumMod val="75000"/>
                  </a:schemeClr>
                </a:solidFill>
              </a:rPr>
              <a:t>P4  1  0  0 =&gt; P4 = 1</a:t>
            </a:r>
          </a:p>
          <a:p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16C2EC6-CBFB-43B9-807A-3B4534F01DDA}"/>
              </a:ext>
            </a:extLst>
          </p:cNvPr>
          <p:cNvSpPr txBox="1"/>
          <p:nvPr/>
        </p:nvSpPr>
        <p:spPr>
          <a:xfrm>
            <a:off x="1036103" y="4564587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ja-JP" sz="2400" dirty="0">
                <a:solidFill>
                  <a:srgbClr val="FF0000"/>
                </a:solidFill>
              </a:rPr>
              <a:t>P2  1  0  0 =&gt; P2 = 1</a:t>
            </a:r>
          </a:p>
        </p:txBody>
      </p:sp>
    </p:spTree>
    <p:extLst>
      <p:ext uri="{BB962C8B-B14F-4D97-AF65-F5344CB8AC3E}">
        <p14:creationId xmlns:p14="http://schemas.microsoft.com/office/powerpoint/2010/main" val="345917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2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AB81-F4BE-4505-876F-6B13D870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365125"/>
            <a:ext cx="11567160" cy="1325563"/>
          </a:xfrm>
        </p:spPr>
        <p:txBody>
          <a:bodyPr/>
          <a:lstStyle/>
          <a:p>
            <a:pPr algn="ctr"/>
            <a:r>
              <a:rPr lang="de-DE" b="1" dirty="0" err="1"/>
              <a:t>Methodology</a:t>
            </a:r>
            <a:r>
              <a:rPr lang="de-DE" b="1" dirty="0"/>
              <a:t>:</a:t>
            </a:r>
            <a:r>
              <a:rPr lang="de-DE" dirty="0"/>
              <a:t> ECC – Hamming Code </a:t>
            </a:r>
            <a:r>
              <a:rPr lang="de-DE" dirty="0" err="1"/>
              <a:t>Correction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2D7D8-5520-4EDF-9556-D0C37A702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06222"/>
          </a:xfrm>
        </p:spPr>
        <p:txBody>
          <a:bodyPr/>
          <a:lstStyle/>
          <a:p>
            <a:r>
              <a:rPr lang="de-DE" dirty="0"/>
              <a:t>4-bit </a:t>
            </a: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Check if even: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216382-7CA7-418A-A710-D594037C5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053523"/>
              </p:ext>
            </p:extLst>
          </p:nvPr>
        </p:nvGraphicFramePr>
        <p:xfrm>
          <a:off x="838200" y="2243616"/>
          <a:ext cx="10515603" cy="109728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103905033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8305084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3927884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9013857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234399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94191845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092912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3952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Parity 1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Parity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1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Parity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Data 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8184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FF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730719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46F09ADC-6736-41AE-82C1-F0F6B291D1F4}"/>
              </a:ext>
            </a:extLst>
          </p:cNvPr>
          <p:cNvSpPr/>
          <p:nvPr/>
        </p:nvSpPr>
        <p:spPr>
          <a:xfrm>
            <a:off x="1049864" y="2551852"/>
            <a:ext cx="1049868" cy="7890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B3041B-A449-4E5E-905F-228C761228F0}"/>
              </a:ext>
            </a:extLst>
          </p:cNvPr>
          <p:cNvSpPr/>
          <p:nvPr/>
        </p:nvSpPr>
        <p:spPr>
          <a:xfrm>
            <a:off x="4047065" y="2521320"/>
            <a:ext cx="1049868" cy="721413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5134AE-FE9D-4300-ACE8-8C4321691841}"/>
              </a:ext>
            </a:extLst>
          </p:cNvPr>
          <p:cNvSpPr/>
          <p:nvPr/>
        </p:nvSpPr>
        <p:spPr>
          <a:xfrm>
            <a:off x="7044266" y="2551853"/>
            <a:ext cx="1049868" cy="78904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EAA941-A412-4135-99AA-C5BC34749BDD}"/>
              </a:ext>
            </a:extLst>
          </p:cNvPr>
          <p:cNvSpPr/>
          <p:nvPr/>
        </p:nvSpPr>
        <p:spPr>
          <a:xfrm>
            <a:off x="10041467" y="2521320"/>
            <a:ext cx="1049868" cy="893871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587BEF-BD8C-41BB-BEDE-46CE0C98899B}"/>
              </a:ext>
            </a:extLst>
          </p:cNvPr>
          <p:cNvSpPr/>
          <p:nvPr/>
        </p:nvSpPr>
        <p:spPr>
          <a:xfrm>
            <a:off x="2582333" y="2447027"/>
            <a:ext cx="2413000" cy="8938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89F5A1-F78B-4661-8F27-1BA37F8B08BD}"/>
              </a:ext>
            </a:extLst>
          </p:cNvPr>
          <p:cNvSpPr/>
          <p:nvPr/>
        </p:nvSpPr>
        <p:spPr>
          <a:xfrm>
            <a:off x="8678335" y="2521320"/>
            <a:ext cx="2413000" cy="9214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D86B2D-051C-424C-BAA0-A79DDEEDEA93}"/>
              </a:ext>
            </a:extLst>
          </p:cNvPr>
          <p:cNvSpPr/>
          <p:nvPr/>
        </p:nvSpPr>
        <p:spPr>
          <a:xfrm>
            <a:off x="5189643" y="2521320"/>
            <a:ext cx="6342379" cy="893871"/>
          </a:xfrm>
          <a:prstGeom prst="ellipse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4A5E81-5CB8-467B-97D0-A1A30CDA3817}"/>
              </a:ext>
            </a:extLst>
          </p:cNvPr>
          <p:cNvCxnSpPr/>
          <p:nvPr/>
        </p:nvCxnSpPr>
        <p:spPr>
          <a:xfrm flipH="1">
            <a:off x="9211733" y="1825625"/>
            <a:ext cx="1092200" cy="1171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127AD7-2CDA-4637-9ED5-87E8F8DF2FAD}"/>
              </a:ext>
            </a:extLst>
          </p:cNvPr>
          <p:cNvSpPr txBox="1"/>
          <p:nvPr/>
        </p:nvSpPr>
        <p:spPr>
          <a:xfrm>
            <a:off x="10303933" y="1563066"/>
            <a:ext cx="143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Error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1105E-1AE6-471F-9FBF-B44772A1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85D078-5F33-4F09-B5D3-49DFFE7A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9</a:t>
            </a:fld>
            <a:endParaRPr lang="de-DE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47EBE5F-8631-4057-B0CF-192B92229DC0}"/>
              </a:ext>
            </a:extLst>
          </p:cNvPr>
          <p:cNvSpPr/>
          <p:nvPr/>
        </p:nvSpPr>
        <p:spPr>
          <a:xfrm>
            <a:off x="832904" y="5123188"/>
            <a:ext cx="5710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altLang="ja-JP" sz="2400" dirty="0">
                <a:solidFill>
                  <a:schemeClr val="accent4">
                    <a:lumMod val="75000"/>
                  </a:schemeClr>
                </a:solidFill>
              </a:rPr>
              <a:t>P4: 1  1  1  0 is odd =&gt; Error! Position found! 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EF5630C-FFAA-4D13-9476-9CB690644ADC}"/>
              </a:ext>
            </a:extLst>
          </p:cNvPr>
          <p:cNvSpPr/>
          <p:nvPr/>
        </p:nvSpPr>
        <p:spPr>
          <a:xfrm>
            <a:off x="838197" y="4324560"/>
            <a:ext cx="3427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ja-JP" sz="2400" dirty="0">
                <a:solidFill>
                  <a:schemeClr val="accent1">
                    <a:lumMod val="75000"/>
                  </a:schemeClr>
                </a:solidFill>
              </a:rPr>
              <a:t>P1: 0  1  1  0 is even =&gt; OK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5161ABF-C5AB-4D62-AD08-107EA673B5FA}"/>
              </a:ext>
            </a:extLst>
          </p:cNvPr>
          <p:cNvSpPr/>
          <p:nvPr/>
        </p:nvSpPr>
        <p:spPr>
          <a:xfrm>
            <a:off x="832904" y="4700791"/>
            <a:ext cx="3675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ja-JP" sz="2400" dirty="0">
                <a:solidFill>
                  <a:srgbClr val="FF0000"/>
                </a:solidFill>
              </a:rPr>
              <a:t>P2: 1  1  1  0 is odd =&gt; Error!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7397E69-81CD-4042-9964-967D00370DAE}"/>
              </a:ext>
            </a:extLst>
          </p:cNvPr>
          <p:cNvSpPr/>
          <p:nvPr/>
        </p:nvSpPr>
        <p:spPr>
          <a:xfrm>
            <a:off x="890303" y="5615510"/>
            <a:ext cx="31567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ja-JP" sz="2400" dirty="0"/>
              <a:t>=&gt; Error Position = 2 + 4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8477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F6E9-6CE2-488D-BC47-F9DE5CD0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Methodology: </a:t>
            </a:r>
            <a:r>
              <a:rPr lang="de-DE" dirty="0"/>
              <a:t>Bit Error Simulation</a:t>
            </a:r>
            <a:endParaRPr lang="de-DE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6A416-73DD-427B-BC67-2B9FA1BD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AA5BB-42DB-4E25-A11F-45F80988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10</a:t>
            </a:fld>
            <a:endParaRPr lang="de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64A9C3-24B6-4601-BB4D-7E07AC4B27E8}"/>
              </a:ext>
            </a:extLst>
          </p:cNvPr>
          <p:cNvSpPr txBox="1">
            <a:spLocks/>
          </p:cNvSpPr>
          <p:nvPr/>
        </p:nvSpPr>
        <p:spPr>
          <a:xfrm>
            <a:off x="838200" y="1463675"/>
            <a:ext cx="62259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de-DE" altLang="ja-JP" dirty="0"/>
              <a:t>Convert </a:t>
            </a:r>
            <a:r>
              <a:rPr lang="de-DE" dirty="0"/>
              <a:t>Model Weights to Bit Arrays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Generate Random Bit Mask According to The Resulting Size and BER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Flip Bits Using Bit Mask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Convert Bit Array Back into Model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A5CB485-916C-4946-9230-7C2BB77D42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97"/>
          <a:stretch/>
        </p:blipFill>
        <p:spPr>
          <a:xfrm>
            <a:off x="8390965" y="1519846"/>
            <a:ext cx="1721224" cy="162728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4EA09B3-26C6-4278-8320-371ED1C79729}"/>
              </a:ext>
            </a:extLst>
          </p:cNvPr>
          <p:cNvSpPr txBox="1"/>
          <p:nvPr/>
        </p:nvSpPr>
        <p:spPr>
          <a:xfrm>
            <a:off x="7171765" y="1027906"/>
            <a:ext cx="7587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15000" dirty="0"/>
              <a:t>[</a:t>
            </a:r>
            <a:endParaRPr kumimoji="1" lang="ja-JP" altLang="en-US" sz="15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99F5CD5-52D8-409C-A36A-19D22FC5C847}"/>
              </a:ext>
            </a:extLst>
          </p:cNvPr>
          <p:cNvSpPr txBox="1"/>
          <p:nvPr/>
        </p:nvSpPr>
        <p:spPr>
          <a:xfrm>
            <a:off x="10443266" y="1027906"/>
            <a:ext cx="7587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15000" dirty="0"/>
              <a:t>]</a:t>
            </a:r>
            <a:endParaRPr kumimoji="1" lang="ja-JP" altLang="en-US" sz="15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25575DD-3903-44C7-9FBB-386F997926B2}"/>
              </a:ext>
            </a:extLst>
          </p:cNvPr>
          <p:cNvSpPr txBox="1"/>
          <p:nvPr/>
        </p:nvSpPr>
        <p:spPr>
          <a:xfrm>
            <a:off x="8063751" y="1480178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A43259-02C8-4ACB-873D-A4F4EF1E3408}"/>
              </a:ext>
            </a:extLst>
          </p:cNvPr>
          <p:cNvSpPr txBox="1"/>
          <p:nvPr/>
        </p:nvSpPr>
        <p:spPr>
          <a:xfrm>
            <a:off x="8071091" y="1836526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2099563-54C7-4980-988D-C35354DEC404}"/>
              </a:ext>
            </a:extLst>
          </p:cNvPr>
          <p:cNvSpPr txBox="1"/>
          <p:nvPr/>
        </p:nvSpPr>
        <p:spPr>
          <a:xfrm>
            <a:off x="8051542" y="2634899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37790D4-CFCE-4D17-A800-53C08527F231}"/>
              </a:ext>
            </a:extLst>
          </p:cNvPr>
          <p:cNvSpPr txBox="1"/>
          <p:nvPr/>
        </p:nvSpPr>
        <p:spPr>
          <a:xfrm>
            <a:off x="9981893" y="2652829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6F4EC4A-4C6F-44DD-A749-518F21CBD747}"/>
              </a:ext>
            </a:extLst>
          </p:cNvPr>
          <p:cNvSpPr txBox="1"/>
          <p:nvPr/>
        </p:nvSpPr>
        <p:spPr>
          <a:xfrm>
            <a:off x="9981893" y="1845491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098F5C0-EE7F-4C27-9D8F-76AA4893B8D7}"/>
              </a:ext>
            </a:extLst>
          </p:cNvPr>
          <p:cNvSpPr txBox="1"/>
          <p:nvPr/>
        </p:nvSpPr>
        <p:spPr>
          <a:xfrm>
            <a:off x="9981893" y="1468583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98C1C23-0FC6-4166-8E9F-70DBF1B7BDDF}"/>
              </a:ext>
            </a:extLst>
          </p:cNvPr>
          <p:cNvSpPr txBox="1"/>
          <p:nvPr/>
        </p:nvSpPr>
        <p:spPr>
          <a:xfrm>
            <a:off x="8063751" y="3999056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95BDA69-9916-4DEB-8F27-42468B01F4AF}"/>
              </a:ext>
            </a:extLst>
          </p:cNvPr>
          <p:cNvSpPr txBox="1"/>
          <p:nvPr/>
        </p:nvSpPr>
        <p:spPr>
          <a:xfrm>
            <a:off x="8450856" y="4006510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367CAAB-7DFE-492E-B39B-0EBF906EE58D}"/>
              </a:ext>
            </a:extLst>
          </p:cNvPr>
          <p:cNvSpPr txBox="1"/>
          <p:nvPr/>
        </p:nvSpPr>
        <p:spPr>
          <a:xfrm>
            <a:off x="7292791" y="3555463"/>
            <a:ext cx="7587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15000" dirty="0"/>
              <a:t>[</a:t>
            </a:r>
            <a:endParaRPr kumimoji="1" lang="ja-JP" altLang="en-US" sz="15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BCE4FD4-B9CA-4A0A-8090-88A9BA7AA1B3}"/>
              </a:ext>
            </a:extLst>
          </p:cNvPr>
          <p:cNvSpPr txBox="1"/>
          <p:nvPr/>
        </p:nvSpPr>
        <p:spPr>
          <a:xfrm>
            <a:off x="10456094" y="3626007"/>
            <a:ext cx="7587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15000" dirty="0"/>
              <a:t>]</a:t>
            </a:r>
            <a:endParaRPr kumimoji="1" lang="ja-JP" altLang="en-US" sz="15000" dirty="0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AF3CD5E1-3435-43D7-8A04-4CD31AB2A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993" y="4058544"/>
            <a:ext cx="171474" cy="381053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CA6BB2D-6C29-44DF-AB02-E411A6099452}"/>
              </a:ext>
            </a:extLst>
          </p:cNvPr>
          <p:cNvSpPr txBox="1"/>
          <p:nvPr/>
        </p:nvSpPr>
        <p:spPr>
          <a:xfrm>
            <a:off x="7912253" y="3849034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[</a:t>
            </a:r>
            <a:endParaRPr kumimoji="1" lang="ja-JP" altLang="en-US" sz="4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9BC24C3-156E-4AD7-A60B-EB0BF6C11EFE}"/>
              </a:ext>
            </a:extLst>
          </p:cNvPr>
          <p:cNvSpPr txBox="1"/>
          <p:nvPr/>
        </p:nvSpPr>
        <p:spPr>
          <a:xfrm>
            <a:off x="10176917" y="3836669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]</a:t>
            </a:r>
            <a:endParaRPr kumimoji="1" lang="ja-JP" altLang="en-US" sz="44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4BB5A1A-D7C7-4394-8DB3-992ECA45E923}"/>
              </a:ext>
            </a:extLst>
          </p:cNvPr>
          <p:cNvSpPr txBox="1"/>
          <p:nvPr/>
        </p:nvSpPr>
        <p:spPr>
          <a:xfrm>
            <a:off x="9693715" y="4033973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0FC1DD7-1E2C-4613-946A-787F8261B853}"/>
              </a:ext>
            </a:extLst>
          </p:cNvPr>
          <p:cNvSpPr txBox="1"/>
          <p:nvPr/>
        </p:nvSpPr>
        <p:spPr>
          <a:xfrm>
            <a:off x="10080820" y="4041427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0F3FF947-D46C-42CC-8490-F8DF73B0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957" y="4093461"/>
            <a:ext cx="171474" cy="381053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AC1FA7B-8C00-4E72-B1E4-6E2591409235}"/>
              </a:ext>
            </a:extLst>
          </p:cNvPr>
          <p:cNvSpPr txBox="1"/>
          <p:nvPr/>
        </p:nvSpPr>
        <p:spPr>
          <a:xfrm>
            <a:off x="8077711" y="4547848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95BFB5F-358C-4E67-AAAC-376BE2FDF970}"/>
              </a:ext>
            </a:extLst>
          </p:cNvPr>
          <p:cNvSpPr txBox="1"/>
          <p:nvPr/>
        </p:nvSpPr>
        <p:spPr>
          <a:xfrm>
            <a:off x="8464816" y="4555302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9503151C-63BD-47B2-90E2-BF02335EE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953" y="4607336"/>
            <a:ext cx="171474" cy="381053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EF24065-E364-45AB-AE8E-AFF5359810F8}"/>
              </a:ext>
            </a:extLst>
          </p:cNvPr>
          <p:cNvSpPr txBox="1"/>
          <p:nvPr/>
        </p:nvSpPr>
        <p:spPr>
          <a:xfrm>
            <a:off x="7926213" y="4397826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[</a:t>
            </a:r>
            <a:endParaRPr kumimoji="1" lang="ja-JP" altLang="en-US" sz="44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31FA965-ED66-4CED-9C03-30D2D6167776}"/>
              </a:ext>
            </a:extLst>
          </p:cNvPr>
          <p:cNvSpPr txBox="1"/>
          <p:nvPr/>
        </p:nvSpPr>
        <p:spPr>
          <a:xfrm>
            <a:off x="10190877" y="4385461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]</a:t>
            </a:r>
            <a:endParaRPr kumimoji="1" lang="ja-JP" altLang="en-US" sz="4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E12C797-7AB5-4E0B-A8CF-AD7425F1156B}"/>
              </a:ext>
            </a:extLst>
          </p:cNvPr>
          <p:cNvSpPr txBox="1"/>
          <p:nvPr/>
        </p:nvSpPr>
        <p:spPr>
          <a:xfrm>
            <a:off x="9707675" y="4582765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BA18B49-BCB9-4B78-A32D-6DA8C553F732}"/>
              </a:ext>
            </a:extLst>
          </p:cNvPr>
          <p:cNvSpPr txBox="1"/>
          <p:nvPr/>
        </p:nvSpPr>
        <p:spPr>
          <a:xfrm>
            <a:off x="10094780" y="4590219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472EC7FF-92AB-40E5-A8E0-9D9AEEE63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917" y="4642253"/>
            <a:ext cx="171474" cy="381053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B3BA3D9-0F05-4B87-A034-65A3547B55B6}"/>
              </a:ext>
            </a:extLst>
          </p:cNvPr>
          <p:cNvSpPr txBox="1"/>
          <p:nvPr/>
        </p:nvSpPr>
        <p:spPr>
          <a:xfrm>
            <a:off x="8076813" y="5199735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AA367B4-00A6-4192-ABE6-858E032E7BF8}"/>
              </a:ext>
            </a:extLst>
          </p:cNvPr>
          <p:cNvSpPr txBox="1"/>
          <p:nvPr/>
        </p:nvSpPr>
        <p:spPr>
          <a:xfrm>
            <a:off x="8463918" y="5207189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pic>
        <p:nvPicPr>
          <p:cNvPr id="52" name="図 51">
            <a:extLst>
              <a:ext uri="{FF2B5EF4-FFF2-40B4-BE49-F238E27FC236}">
                <a16:creationId xmlns:a16="http://schemas.microsoft.com/office/drawing/2014/main" id="{1EDADAA7-4547-4F8B-9751-378615968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055" y="5259223"/>
            <a:ext cx="171474" cy="381053"/>
          </a:xfrm>
          <a:prstGeom prst="rect">
            <a:avLst/>
          </a:prstGeom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69D619B-B97E-4D4F-9F82-C4A5CCFDE580}"/>
              </a:ext>
            </a:extLst>
          </p:cNvPr>
          <p:cNvSpPr txBox="1"/>
          <p:nvPr/>
        </p:nvSpPr>
        <p:spPr>
          <a:xfrm>
            <a:off x="7925315" y="5049713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[</a:t>
            </a:r>
            <a:endParaRPr kumimoji="1" lang="ja-JP" altLang="en-US" sz="4400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373D6A1-CA46-4F20-A740-7C43A3896F24}"/>
              </a:ext>
            </a:extLst>
          </p:cNvPr>
          <p:cNvSpPr txBox="1"/>
          <p:nvPr/>
        </p:nvSpPr>
        <p:spPr>
          <a:xfrm>
            <a:off x="10189979" y="5037348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]</a:t>
            </a:r>
            <a:endParaRPr kumimoji="1" lang="ja-JP" altLang="en-US" sz="4400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288E178-6A63-4676-B938-4A526199F2FF}"/>
              </a:ext>
            </a:extLst>
          </p:cNvPr>
          <p:cNvSpPr txBox="1"/>
          <p:nvPr/>
        </p:nvSpPr>
        <p:spPr>
          <a:xfrm>
            <a:off x="9706777" y="5234652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E1AE173-580D-45FA-9E8E-293E98FCCCF2}"/>
              </a:ext>
            </a:extLst>
          </p:cNvPr>
          <p:cNvSpPr txBox="1"/>
          <p:nvPr/>
        </p:nvSpPr>
        <p:spPr>
          <a:xfrm>
            <a:off x="10093882" y="5242106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95BD5092-98F7-4DC1-B8EF-7C0626A6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19" y="5294140"/>
            <a:ext cx="171474" cy="381053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7251F713-E498-4B94-9D16-EB08741D9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868" y="4962451"/>
            <a:ext cx="428685" cy="409632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1AF9EE40-4619-4190-A668-8A1DB3417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269" y="4664240"/>
            <a:ext cx="504895" cy="266737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EAAD7DEC-FD02-423E-B1E4-D80582306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4880" y="4131393"/>
            <a:ext cx="504895" cy="266737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B7B3DE7E-0D3D-424A-BF39-4594E6848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0658" y="5382397"/>
            <a:ext cx="504895" cy="266737"/>
          </a:xfrm>
          <a:prstGeom prst="rect">
            <a:avLst/>
          </a:prstGeom>
        </p:spPr>
      </p:pic>
      <p:sp>
        <p:nvSpPr>
          <p:cNvPr id="62" name="矢印: 下 61">
            <a:extLst>
              <a:ext uri="{FF2B5EF4-FFF2-40B4-BE49-F238E27FC236}">
                <a16:creationId xmlns:a16="http://schemas.microsoft.com/office/drawing/2014/main" id="{768970F6-6D9B-4B3F-90A4-966DF45676CA}"/>
              </a:ext>
            </a:extLst>
          </p:cNvPr>
          <p:cNvSpPr/>
          <p:nvPr/>
        </p:nvSpPr>
        <p:spPr>
          <a:xfrm>
            <a:off x="8398515" y="3185575"/>
            <a:ext cx="626259" cy="7809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8C2A11A4-E1D9-4508-9DD3-61CEEA741C2D}"/>
              </a:ext>
            </a:extLst>
          </p:cNvPr>
          <p:cNvSpPr txBox="1"/>
          <p:nvPr/>
        </p:nvSpPr>
        <p:spPr>
          <a:xfrm>
            <a:off x="7437690" y="3257271"/>
            <a:ext cx="1230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b="1" dirty="0"/>
              <a:t>1.</a:t>
            </a:r>
            <a:r>
              <a:rPr kumimoji="1" lang="de-DE" altLang="ja-JP" dirty="0"/>
              <a:t> Convert data</a:t>
            </a:r>
            <a:endParaRPr kumimoji="1" lang="ja-JP" altLang="en-US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DF8FBF9C-443B-4D90-9159-65DA1646F241}"/>
              </a:ext>
            </a:extLst>
          </p:cNvPr>
          <p:cNvSpPr txBox="1"/>
          <p:nvPr/>
        </p:nvSpPr>
        <p:spPr>
          <a:xfrm>
            <a:off x="3539447" y="3931671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BBEE91C1-042D-4CAD-A89B-135A5BD9DA44}"/>
              </a:ext>
            </a:extLst>
          </p:cNvPr>
          <p:cNvSpPr txBox="1"/>
          <p:nvPr/>
        </p:nvSpPr>
        <p:spPr>
          <a:xfrm>
            <a:off x="3926552" y="3939125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8AFC17F9-E85B-4B91-A92C-5852829DAFD0}"/>
              </a:ext>
            </a:extLst>
          </p:cNvPr>
          <p:cNvSpPr txBox="1"/>
          <p:nvPr/>
        </p:nvSpPr>
        <p:spPr>
          <a:xfrm>
            <a:off x="2768487" y="3488078"/>
            <a:ext cx="7587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15000" dirty="0"/>
              <a:t>[</a:t>
            </a:r>
            <a:endParaRPr kumimoji="1" lang="ja-JP" altLang="en-US" sz="15000" dirty="0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76F4E02-4E2B-47F0-8D88-59FB9AA38B08}"/>
              </a:ext>
            </a:extLst>
          </p:cNvPr>
          <p:cNvSpPr txBox="1"/>
          <p:nvPr/>
        </p:nvSpPr>
        <p:spPr>
          <a:xfrm>
            <a:off x="5931790" y="3558622"/>
            <a:ext cx="75875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15000" dirty="0"/>
              <a:t>]</a:t>
            </a:r>
            <a:endParaRPr kumimoji="1" lang="ja-JP" altLang="en-US" sz="1500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95DA9C2B-B21A-44B7-8A82-BBF841C50633}"/>
              </a:ext>
            </a:extLst>
          </p:cNvPr>
          <p:cNvSpPr txBox="1"/>
          <p:nvPr/>
        </p:nvSpPr>
        <p:spPr>
          <a:xfrm>
            <a:off x="3387949" y="3781649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[</a:t>
            </a:r>
            <a:endParaRPr kumimoji="1" lang="ja-JP" altLang="en-US" sz="4400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2F02DC7-03B4-47E4-B9B9-32C06F650970}"/>
              </a:ext>
            </a:extLst>
          </p:cNvPr>
          <p:cNvSpPr txBox="1"/>
          <p:nvPr/>
        </p:nvSpPr>
        <p:spPr>
          <a:xfrm>
            <a:off x="5652613" y="3769284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]</a:t>
            </a:r>
            <a:endParaRPr kumimoji="1" lang="ja-JP" altLang="en-US" sz="44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724CF2C-59F1-4E97-BC13-B8574F0E6F4B}"/>
              </a:ext>
            </a:extLst>
          </p:cNvPr>
          <p:cNvSpPr txBox="1"/>
          <p:nvPr/>
        </p:nvSpPr>
        <p:spPr>
          <a:xfrm>
            <a:off x="5169411" y="3966588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C80C897-7EBA-4973-921B-3B5D5749490E}"/>
              </a:ext>
            </a:extLst>
          </p:cNvPr>
          <p:cNvSpPr txBox="1"/>
          <p:nvPr/>
        </p:nvSpPr>
        <p:spPr>
          <a:xfrm>
            <a:off x="5556516" y="3974042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4F020750-BAFD-4F1B-92ED-BB281A830BD2}"/>
              </a:ext>
            </a:extLst>
          </p:cNvPr>
          <p:cNvSpPr txBox="1"/>
          <p:nvPr/>
        </p:nvSpPr>
        <p:spPr>
          <a:xfrm>
            <a:off x="3553407" y="4480463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501C3F9-2008-4F9F-AAC6-42F2C317E70C}"/>
              </a:ext>
            </a:extLst>
          </p:cNvPr>
          <p:cNvSpPr txBox="1"/>
          <p:nvPr/>
        </p:nvSpPr>
        <p:spPr>
          <a:xfrm>
            <a:off x="3940512" y="4487917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1DED776D-746F-4C79-AE63-FD30999466B5}"/>
              </a:ext>
            </a:extLst>
          </p:cNvPr>
          <p:cNvSpPr txBox="1"/>
          <p:nvPr/>
        </p:nvSpPr>
        <p:spPr>
          <a:xfrm>
            <a:off x="3401909" y="4330441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[</a:t>
            </a:r>
            <a:endParaRPr kumimoji="1" lang="ja-JP" altLang="en-US" sz="44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9737811A-03E2-49D9-A809-FA1FFEA9DA6A}"/>
              </a:ext>
            </a:extLst>
          </p:cNvPr>
          <p:cNvSpPr txBox="1"/>
          <p:nvPr/>
        </p:nvSpPr>
        <p:spPr>
          <a:xfrm>
            <a:off x="5666573" y="4318076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]</a:t>
            </a:r>
            <a:endParaRPr kumimoji="1" lang="ja-JP" altLang="en-US" sz="44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7AA22965-EA55-4F90-83AD-426B176ED38B}"/>
              </a:ext>
            </a:extLst>
          </p:cNvPr>
          <p:cNvSpPr txBox="1"/>
          <p:nvPr/>
        </p:nvSpPr>
        <p:spPr>
          <a:xfrm>
            <a:off x="5183371" y="4515380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1A6A20EF-EBF5-4A50-8F68-5C55AA49BF7F}"/>
              </a:ext>
            </a:extLst>
          </p:cNvPr>
          <p:cNvSpPr txBox="1"/>
          <p:nvPr/>
        </p:nvSpPr>
        <p:spPr>
          <a:xfrm>
            <a:off x="5570476" y="4522834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41EA35E8-0A46-4311-9EE3-A2922801E3BF}"/>
              </a:ext>
            </a:extLst>
          </p:cNvPr>
          <p:cNvSpPr txBox="1"/>
          <p:nvPr/>
        </p:nvSpPr>
        <p:spPr>
          <a:xfrm>
            <a:off x="3552509" y="5132350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507CC97A-BF89-4EE8-B4C9-336470476DAF}"/>
              </a:ext>
            </a:extLst>
          </p:cNvPr>
          <p:cNvSpPr txBox="1"/>
          <p:nvPr/>
        </p:nvSpPr>
        <p:spPr>
          <a:xfrm>
            <a:off x="3939614" y="5139804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347B8590-D97F-4F61-9F7B-11652CCDF673}"/>
              </a:ext>
            </a:extLst>
          </p:cNvPr>
          <p:cNvSpPr txBox="1"/>
          <p:nvPr/>
        </p:nvSpPr>
        <p:spPr>
          <a:xfrm>
            <a:off x="3401011" y="4982328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[</a:t>
            </a:r>
            <a:endParaRPr kumimoji="1" lang="ja-JP" altLang="en-US" sz="4400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7D4C42F2-0B80-4F4A-ACAD-492939B71C63}"/>
              </a:ext>
            </a:extLst>
          </p:cNvPr>
          <p:cNvSpPr txBox="1"/>
          <p:nvPr/>
        </p:nvSpPr>
        <p:spPr>
          <a:xfrm>
            <a:off x="5665675" y="4969963"/>
            <a:ext cx="4123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4400" dirty="0"/>
              <a:t>]</a:t>
            </a:r>
            <a:endParaRPr kumimoji="1" lang="ja-JP" altLang="en-US" sz="4400" dirty="0"/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8F8F02E2-2F06-44D0-9B88-47C3A3AE9DAB}"/>
              </a:ext>
            </a:extLst>
          </p:cNvPr>
          <p:cNvSpPr txBox="1"/>
          <p:nvPr/>
        </p:nvSpPr>
        <p:spPr>
          <a:xfrm>
            <a:off x="5182473" y="5167267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[</a:t>
            </a:r>
            <a:endParaRPr kumimoji="1" lang="ja-JP" altLang="en-US" sz="2800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1DEA5B2C-450C-4ACC-AC3B-546A3F79613F}"/>
              </a:ext>
            </a:extLst>
          </p:cNvPr>
          <p:cNvSpPr txBox="1"/>
          <p:nvPr/>
        </p:nvSpPr>
        <p:spPr>
          <a:xfrm>
            <a:off x="5569578" y="5174721"/>
            <a:ext cx="41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sz="2800" dirty="0"/>
              <a:t>]</a:t>
            </a:r>
            <a:endParaRPr kumimoji="1" lang="ja-JP" altLang="en-US" sz="2800" dirty="0"/>
          </a:p>
        </p:txBody>
      </p:sp>
      <p:pic>
        <p:nvPicPr>
          <p:cNvPr id="90" name="図 89">
            <a:extLst>
              <a:ext uri="{FF2B5EF4-FFF2-40B4-BE49-F238E27FC236}">
                <a16:creationId xmlns:a16="http://schemas.microsoft.com/office/drawing/2014/main" id="{35356C98-367D-43BC-8D70-EB122D0FF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564" y="4895066"/>
            <a:ext cx="428685" cy="409632"/>
          </a:xfrm>
          <a:prstGeom prst="rect">
            <a:avLst/>
          </a:prstGeom>
        </p:spPr>
      </p:pic>
      <p:pic>
        <p:nvPicPr>
          <p:cNvPr id="91" name="図 90">
            <a:extLst>
              <a:ext uri="{FF2B5EF4-FFF2-40B4-BE49-F238E27FC236}">
                <a16:creationId xmlns:a16="http://schemas.microsoft.com/office/drawing/2014/main" id="{EFF4A2E2-03CA-4F28-B49B-17FDA7631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965" y="4596855"/>
            <a:ext cx="504895" cy="266737"/>
          </a:xfrm>
          <a:prstGeom prst="rect">
            <a:avLst/>
          </a:prstGeom>
        </p:spPr>
      </p:pic>
      <p:pic>
        <p:nvPicPr>
          <p:cNvPr id="92" name="図 91">
            <a:extLst>
              <a:ext uri="{FF2B5EF4-FFF2-40B4-BE49-F238E27FC236}">
                <a16:creationId xmlns:a16="http://schemas.microsoft.com/office/drawing/2014/main" id="{0B105FB2-F2DD-4562-AA68-C6D016CD3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576" y="4064008"/>
            <a:ext cx="504895" cy="266737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0999B212-D0D8-42F4-8E4F-A86B537CF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6354" y="5315012"/>
            <a:ext cx="504895" cy="266737"/>
          </a:xfrm>
          <a:prstGeom prst="rect">
            <a:avLst/>
          </a:prstGeom>
        </p:spPr>
      </p:pic>
      <p:sp>
        <p:nvSpPr>
          <p:cNvPr id="94" name="矢印: 右 93">
            <a:extLst>
              <a:ext uri="{FF2B5EF4-FFF2-40B4-BE49-F238E27FC236}">
                <a16:creationId xmlns:a16="http://schemas.microsoft.com/office/drawing/2014/main" id="{E61D7160-E63C-44AA-926C-10705B586AB9}"/>
              </a:ext>
            </a:extLst>
          </p:cNvPr>
          <p:cNvSpPr/>
          <p:nvPr/>
        </p:nvSpPr>
        <p:spPr>
          <a:xfrm>
            <a:off x="6562725" y="4571169"/>
            <a:ext cx="885310" cy="5348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A432E2E4-BED7-45AF-9A3D-E16066F21FF0}"/>
              </a:ext>
            </a:extLst>
          </p:cNvPr>
          <p:cNvSpPr txBox="1"/>
          <p:nvPr/>
        </p:nvSpPr>
        <p:spPr>
          <a:xfrm>
            <a:off x="6529207" y="3905032"/>
            <a:ext cx="99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b="1" dirty="0"/>
              <a:t>3.</a:t>
            </a:r>
            <a:r>
              <a:rPr kumimoji="1" lang="de-DE" altLang="ja-JP" dirty="0"/>
              <a:t> Flip Bits</a:t>
            </a:r>
            <a:endParaRPr kumimoji="1" lang="ja-JP" altLang="en-US" dirty="0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C0E0F603-E24C-4354-BB45-DE2EF6CB545A}"/>
              </a:ext>
            </a:extLst>
          </p:cNvPr>
          <p:cNvSpPr txBox="1"/>
          <p:nvPr/>
        </p:nvSpPr>
        <p:spPr>
          <a:xfrm>
            <a:off x="10988517" y="1627011"/>
            <a:ext cx="1026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Weights</a:t>
            </a:r>
          </a:p>
          <a:p>
            <a:r>
              <a:rPr kumimoji="1" lang="de-DE" altLang="ja-JP" dirty="0"/>
              <a:t>In Model</a:t>
            </a:r>
            <a:endParaRPr kumimoji="1" lang="ja-JP" altLang="en-US" dirty="0"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48E58CF2-0B05-4B76-B1E2-86AA80D126F6}"/>
              </a:ext>
            </a:extLst>
          </p:cNvPr>
          <p:cNvSpPr txBox="1"/>
          <p:nvPr/>
        </p:nvSpPr>
        <p:spPr>
          <a:xfrm>
            <a:off x="2943659" y="5812338"/>
            <a:ext cx="3374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b="1" dirty="0"/>
              <a:t>2. </a:t>
            </a:r>
            <a:r>
              <a:rPr kumimoji="1" lang="de-DE" altLang="ja-JP" dirty="0"/>
              <a:t>Generate Random Bit Flip Mask</a:t>
            </a:r>
            <a:endParaRPr kumimoji="1" lang="ja-JP" altLang="en-US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EC1F9D64-2E8E-4680-B3BA-D7EF355431D2}"/>
              </a:ext>
            </a:extLst>
          </p:cNvPr>
          <p:cNvSpPr txBox="1"/>
          <p:nvPr/>
        </p:nvSpPr>
        <p:spPr>
          <a:xfrm>
            <a:off x="8370623" y="5900147"/>
            <a:ext cx="205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Weights as Bit Array</a:t>
            </a:r>
            <a:endParaRPr kumimoji="1" lang="ja-JP" altLang="en-US" dirty="0"/>
          </a:p>
        </p:txBody>
      </p:sp>
      <p:sp>
        <p:nvSpPr>
          <p:cNvPr id="100" name="矢印: 下 99">
            <a:extLst>
              <a:ext uri="{FF2B5EF4-FFF2-40B4-BE49-F238E27FC236}">
                <a16:creationId xmlns:a16="http://schemas.microsoft.com/office/drawing/2014/main" id="{AC15801B-DB35-4B20-B49B-344399B7E2CA}"/>
              </a:ext>
            </a:extLst>
          </p:cNvPr>
          <p:cNvSpPr/>
          <p:nvPr/>
        </p:nvSpPr>
        <p:spPr>
          <a:xfrm rot="10800000">
            <a:off x="9531972" y="3184546"/>
            <a:ext cx="626259" cy="7809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78A0949C-0EEA-49F6-85FD-320541C359D5}"/>
              </a:ext>
            </a:extLst>
          </p:cNvPr>
          <p:cNvSpPr txBox="1"/>
          <p:nvPr/>
        </p:nvSpPr>
        <p:spPr>
          <a:xfrm>
            <a:off x="10394269" y="3257271"/>
            <a:ext cx="1398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ja-JP" b="1" dirty="0"/>
              <a:t>4.</a:t>
            </a:r>
            <a:r>
              <a:rPr kumimoji="1" lang="de-DE" altLang="ja-JP" dirty="0"/>
              <a:t> Convert Back</a:t>
            </a:r>
            <a:endParaRPr kumimoji="1" lang="ja-JP" altLang="en-US" dirty="0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65703E3F-8C66-4127-9E7A-C7DE02581FD6}"/>
              </a:ext>
            </a:extLst>
          </p:cNvPr>
          <p:cNvSpPr/>
          <p:nvPr/>
        </p:nvSpPr>
        <p:spPr>
          <a:xfrm>
            <a:off x="3813387" y="4058544"/>
            <a:ext cx="164109" cy="3007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600B4B2D-8E22-4F2A-A38B-6AB2DE4987C4}"/>
              </a:ext>
            </a:extLst>
          </p:cNvPr>
          <p:cNvSpPr/>
          <p:nvPr/>
        </p:nvSpPr>
        <p:spPr>
          <a:xfrm>
            <a:off x="5434494" y="4651161"/>
            <a:ext cx="164109" cy="3007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35C1E924-7D9B-4281-B668-8889E188209D}"/>
              </a:ext>
            </a:extLst>
          </p:cNvPr>
          <p:cNvSpPr/>
          <p:nvPr/>
        </p:nvSpPr>
        <p:spPr>
          <a:xfrm>
            <a:off x="3805370" y="4582765"/>
            <a:ext cx="161358" cy="3397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AD9B08F-A3ED-4E07-8821-03443AA5ED7F}"/>
              </a:ext>
            </a:extLst>
          </p:cNvPr>
          <p:cNvSpPr/>
          <p:nvPr/>
        </p:nvSpPr>
        <p:spPr>
          <a:xfrm>
            <a:off x="5424010" y="4101813"/>
            <a:ext cx="164109" cy="3007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63CBA8B2-9BF5-47AB-9384-4F8764416549}"/>
              </a:ext>
            </a:extLst>
          </p:cNvPr>
          <p:cNvSpPr/>
          <p:nvPr/>
        </p:nvSpPr>
        <p:spPr>
          <a:xfrm>
            <a:off x="5460553" y="5258995"/>
            <a:ext cx="161358" cy="33976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03608C39-7138-48D3-8D58-DE64EF3ACFBD}"/>
              </a:ext>
            </a:extLst>
          </p:cNvPr>
          <p:cNvSpPr/>
          <p:nvPr/>
        </p:nvSpPr>
        <p:spPr>
          <a:xfrm>
            <a:off x="3805834" y="5280130"/>
            <a:ext cx="164109" cy="3007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35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9B6A-0EFF-4060-90AB-E8274107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 err="1"/>
              <a:t>Results</a:t>
            </a:r>
            <a:r>
              <a:rPr lang="de-DE" b="1" dirty="0"/>
              <a:t>:</a:t>
            </a:r>
            <a:r>
              <a:rPr lang="de-DE" dirty="0"/>
              <a:t> 8-Bit </a:t>
            </a:r>
            <a:r>
              <a:rPr lang="de-DE" dirty="0" err="1"/>
              <a:t>with</a:t>
            </a:r>
            <a:r>
              <a:rPr lang="de-DE" dirty="0"/>
              <a:t> Split 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5D05F-95AB-4529-9D81-ECDC972D7A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t="4691" r="11112" b="5267"/>
          <a:stretch/>
        </p:blipFill>
        <p:spPr>
          <a:xfrm>
            <a:off x="342900" y="1581150"/>
            <a:ext cx="5451777" cy="340042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D65B1-4EB8-416A-B572-5164AA2F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E6A954-CCAF-4D98-BFBF-595B4C71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11</a:t>
            </a:fld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85C2C-32CF-48C7-A6CF-7D8C25059F69}"/>
              </a:ext>
            </a:extLst>
          </p:cNvPr>
          <p:cNvSpPr txBox="1"/>
          <p:nvPr/>
        </p:nvSpPr>
        <p:spPr>
          <a:xfrm>
            <a:off x="2929182" y="5869439"/>
            <a:ext cx="6054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ECC </a:t>
            </a:r>
            <a:r>
              <a:rPr lang="de-DE" sz="1600" dirty="0" err="1"/>
              <a:t>allows</a:t>
            </a:r>
            <a:r>
              <a:rPr lang="de-DE" sz="1600" dirty="0"/>
              <a:t> </a:t>
            </a:r>
            <a:r>
              <a:rPr lang="de-DE" sz="1600" dirty="0" err="1"/>
              <a:t>increasing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b="1" dirty="0"/>
              <a:t>BER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b="1" dirty="0"/>
              <a:t>0.025 </a:t>
            </a:r>
            <a:r>
              <a:rPr lang="de-DE" sz="1600" dirty="0" err="1"/>
              <a:t>with</a:t>
            </a:r>
            <a:r>
              <a:rPr lang="de-DE" sz="1600" dirty="0"/>
              <a:t> minimal </a:t>
            </a:r>
            <a:r>
              <a:rPr lang="de-DE" sz="1600" dirty="0" err="1"/>
              <a:t>accuracy</a:t>
            </a:r>
            <a:r>
              <a:rPr lang="de-DE" sz="1600" dirty="0"/>
              <a:t> </a:t>
            </a:r>
            <a:r>
              <a:rPr lang="de-DE" sz="1600" dirty="0" err="1"/>
              <a:t>cost</a:t>
            </a:r>
            <a:endParaRPr lang="de-DE" sz="1600" b="1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C9E475-0014-4550-AF23-B51086BB06C4}"/>
              </a:ext>
            </a:extLst>
          </p:cNvPr>
          <p:cNvSpPr txBox="1"/>
          <p:nvPr/>
        </p:nvSpPr>
        <p:spPr>
          <a:xfrm>
            <a:off x="1495425" y="1248127"/>
            <a:ext cx="334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8-bit Quantization [0,1) protected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3414E8-E915-42D2-9E70-DBFDDF7D88B7}"/>
              </a:ext>
            </a:extLst>
          </p:cNvPr>
          <p:cNvSpPr txBox="1"/>
          <p:nvPr/>
        </p:nvSpPr>
        <p:spPr>
          <a:xfrm>
            <a:off x="2892858" y="500271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0685C7-16B1-477C-98C7-16B80577642B}"/>
              </a:ext>
            </a:extLst>
          </p:cNvPr>
          <p:cNvSpPr txBox="1"/>
          <p:nvPr/>
        </p:nvSpPr>
        <p:spPr>
          <a:xfrm rot="10800000">
            <a:off x="-66675" y="2657475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93F476B-D92C-4F3C-8830-90BCE1A66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244" y="637901"/>
            <a:ext cx="1234982" cy="839788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843176-CFF2-4EFD-B623-AFBF6A0857E8}"/>
              </a:ext>
            </a:extLst>
          </p:cNvPr>
          <p:cNvSpPr txBox="1"/>
          <p:nvPr/>
        </p:nvSpPr>
        <p:spPr>
          <a:xfrm>
            <a:off x="7458075" y="1236945"/>
            <a:ext cx="334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8-bit Quantization [0,6) protected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F84AF43-85CB-4CC4-84B7-76A4BF4939C3}"/>
              </a:ext>
            </a:extLst>
          </p:cNvPr>
          <p:cNvSpPr txBox="1"/>
          <p:nvPr/>
        </p:nvSpPr>
        <p:spPr>
          <a:xfrm rot="10800000">
            <a:off x="5772150" y="2657475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33C0D5-BF80-4996-A522-0C392ACF173B}"/>
              </a:ext>
            </a:extLst>
          </p:cNvPr>
          <p:cNvSpPr txBox="1"/>
          <p:nvPr/>
        </p:nvSpPr>
        <p:spPr>
          <a:xfrm>
            <a:off x="8884083" y="500271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96BC90A-B26F-460A-A174-5B1CA5F33115}"/>
              </a:ext>
            </a:extLst>
          </p:cNvPr>
          <p:cNvSpPr txBox="1"/>
          <p:nvPr/>
        </p:nvSpPr>
        <p:spPr>
          <a:xfrm>
            <a:off x="3537028" y="5274755"/>
            <a:ext cx="4839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sz="1400" i="1" dirty="0"/>
              <a:t>[0,1) indicates that bit 0 only is protected, with [0,6) it is 0, 1... 5</a:t>
            </a:r>
            <a:endParaRPr kumimoji="1" lang="ja-JP" altLang="en-US" sz="1400" i="1" dirty="0"/>
          </a:p>
        </p:txBody>
      </p:sp>
      <p:pic>
        <p:nvPicPr>
          <p:cNvPr id="17" name="Picture 12">
            <a:extLst>
              <a:ext uri="{FF2B5EF4-FFF2-40B4-BE49-F238E27FC236}">
                <a16:creationId xmlns:a16="http://schemas.microsoft.com/office/drawing/2014/main" id="{6907E3E4-9CB6-424C-B9B7-CAC750D349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7" t="4649" r="11015" b="4957"/>
          <a:stretch/>
        </p:blipFill>
        <p:spPr>
          <a:xfrm>
            <a:off x="6181724" y="1581150"/>
            <a:ext cx="5467351" cy="342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13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9B6A-0EFF-4060-90AB-E8274107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 err="1"/>
              <a:t>Results</a:t>
            </a:r>
            <a:r>
              <a:rPr lang="de-DE" b="1" dirty="0"/>
              <a:t>:</a:t>
            </a:r>
            <a:r>
              <a:rPr lang="de-DE" dirty="0"/>
              <a:t> 8-Bit </a:t>
            </a:r>
            <a:r>
              <a:rPr lang="de-DE" dirty="0" err="1"/>
              <a:t>with</a:t>
            </a:r>
            <a:r>
              <a:rPr lang="de-DE" dirty="0"/>
              <a:t> Split BERs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5D05F-95AB-4529-9D81-ECDC972D7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79" y="1738085"/>
            <a:ext cx="3165202" cy="1888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665118-7DD0-487D-9601-57B643679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465" y="1738085"/>
            <a:ext cx="3165202" cy="188824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D65B1-4EB8-416A-B572-5164AA2F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E6A954-CCAF-4D98-BFBF-595B4C71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12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76E4E6-D60A-42E2-AAF4-B8B428BDB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123" y="1738085"/>
            <a:ext cx="3165202" cy="188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37843A-DEB0-42AF-A64C-055B137909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522" y="1738085"/>
            <a:ext cx="3165202" cy="18882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9DC918-C0E2-4E36-96E6-555EADB94B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051" y="3660773"/>
            <a:ext cx="3165202" cy="18882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499BD2-018C-4432-A2D2-C0EADB1BCB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249" y="3659736"/>
            <a:ext cx="3165202" cy="188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3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B2BE19-9084-48DA-8EEE-6D89074522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" t="4656" r="11502" b="4013"/>
          <a:stretch/>
        </p:blipFill>
        <p:spPr>
          <a:xfrm>
            <a:off x="219075" y="2144196"/>
            <a:ext cx="5338994" cy="33872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8828C-C8B2-4BEC-8BF8-BA2D59330E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5" t="4673" r="11014" b="3996"/>
          <a:stretch/>
        </p:blipFill>
        <p:spPr>
          <a:xfrm>
            <a:off x="5885446" y="2172659"/>
            <a:ext cx="5338993" cy="3387208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95C3A3-0E21-417B-ACEF-7A905540A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C4B1C27-60A3-488C-8FC9-783F269A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13</a:t>
            </a:fld>
            <a:endParaRPr lang="de-DE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57FCD57-D8AA-4635-84EE-09821804B49E}"/>
              </a:ext>
            </a:extLst>
          </p:cNvPr>
          <p:cNvSpPr txBox="1">
            <a:spLocks/>
          </p:cNvSpPr>
          <p:nvPr/>
        </p:nvSpPr>
        <p:spPr>
          <a:xfrm>
            <a:off x="62115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/>
              <a:t>Results:</a:t>
            </a:r>
            <a:r>
              <a:rPr lang="de-DE" dirty="0"/>
              <a:t> 4-Bit with Split BERs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E80F71-A7B6-49B4-B685-45C0C79E3DE6}"/>
              </a:ext>
            </a:extLst>
          </p:cNvPr>
          <p:cNvSpPr txBox="1"/>
          <p:nvPr/>
        </p:nvSpPr>
        <p:spPr>
          <a:xfrm>
            <a:off x="3298114" y="5775039"/>
            <a:ext cx="5161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ECC </a:t>
            </a:r>
            <a:r>
              <a:rPr lang="de-DE" sz="1600" dirty="0" err="1"/>
              <a:t>allows</a:t>
            </a:r>
            <a:r>
              <a:rPr lang="de-DE" sz="1600" dirty="0"/>
              <a:t> </a:t>
            </a:r>
            <a:r>
              <a:rPr lang="de-DE" sz="1600" dirty="0" err="1"/>
              <a:t>increasing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b="1" dirty="0"/>
              <a:t>BER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b="1" dirty="0"/>
              <a:t>0.05 </a:t>
            </a:r>
            <a:r>
              <a:rPr lang="de-DE" sz="1600" dirty="0" err="1"/>
              <a:t>with</a:t>
            </a:r>
            <a:r>
              <a:rPr lang="de-DE" sz="1600" dirty="0"/>
              <a:t> minimal </a:t>
            </a:r>
            <a:r>
              <a:rPr lang="de-DE" sz="1600" dirty="0" err="1"/>
              <a:t>accuracy</a:t>
            </a:r>
            <a:r>
              <a:rPr lang="de-DE" sz="1600" dirty="0"/>
              <a:t> </a:t>
            </a:r>
            <a:r>
              <a:rPr lang="de-DE" sz="1600" dirty="0" err="1"/>
              <a:t>cost</a:t>
            </a:r>
            <a:endParaRPr lang="de-DE" sz="1600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CEA3DE-4BE9-46C5-9B99-62F277B42802}"/>
              </a:ext>
            </a:extLst>
          </p:cNvPr>
          <p:cNvSpPr txBox="1"/>
          <p:nvPr/>
        </p:nvSpPr>
        <p:spPr>
          <a:xfrm>
            <a:off x="1127407" y="1817726"/>
            <a:ext cx="334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4-bit Quantization [0,1) protected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A1E9C61-A889-41F9-A4E0-0D64E56FD20E}"/>
              </a:ext>
            </a:extLst>
          </p:cNvPr>
          <p:cNvSpPr txBox="1"/>
          <p:nvPr/>
        </p:nvSpPr>
        <p:spPr>
          <a:xfrm>
            <a:off x="7029910" y="1839253"/>
            <a:ext cx="334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4-bit Quantization [0,2) protected</a:t>
            </a:r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1432142B-C0A6-4148-A54B-C2501879F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16" y="1003301"/>
            <a:ext cx="1234982" cy="839788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477BD91-5788-45AC-A653-006D2898FABC}"/>
              </a:ext>
            </a:extLst>
          </p:cNvPr>
          <p:cNvSpPr txBox="1"/>
          <p:nvPr/>
        </p:nvSpPr>
        <p:spPr>
          <a:xfrm>
            <a:off x="2422102" y="553140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8E162F5-8042-42B8-943B-3902EB05BCA8}"/>
              </a:ext>
            </a:extLst>
          </p:cNvPr>
          <p:cNvSpPr txBox="1"/>
          <p:nvPr/>
        </p:nvSpPr>
        <p:spPr>
          <a:xfrm rot="10800000">
            <a:off x="-108302" y="3236151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A11FD51-3268-4532-ACF1-B6581C9DA84D}"/>
              </a:ext>
            </a:extLst>
          </p:cNvPr>
          <p:cNvSpPr txBox="1"/>
          <p:nvPr/>
        </p:nvSpPr>
        <p:spPr>
          <a:xfrm>
            <a:off x="9062777" y="540570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CF80EC1-C62F-4C9F-9056-E10FADE9AE03}"/>
              </a:ext>
            </a:extLst>
          </p:cNvPr>
          <p:cNvSpPr txBox="1"/>
          <p:nvPr/>
        </p:nvSpPr>
        <p:spPr>
          <a:xfrm rot="10800000">
            <a:off x="5510446" y="2983648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0296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9B6A-0EFF-4060-90AB-E8274107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 err="1"/>
              <a:t>Results</a:t>
            </a:r>
            <a:r>
              <a:rPr lang="de-DE" b="1" dirty="0"/>
              <a:t>:</a:t>
            </a:r>
            <a:r>
              <a:rPr lang="de-DE" dirty="0"/>
              <a:t> 16-Bit </a:t>
            </a:r>
            <a:r>
              <a:rPr lang="de-DE" dirty="0" err="1"/>
              <a:t>with</a:t>
            </a:r>
            <a:r>
              <a:rPr lang="de-DE" dirty="0"/>
              <a:t> Same BERs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D8E64F-3161-4900-8227-7A43456989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" t="4351" r="11446" b="4291"/>
          <a:stretch/>
        </p:blipFill>
        <p:spPr>
          <a:xfrm>
            <a:off x="295276" y="1690687"/>
            <a:ext cx="5486400" cy="34909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27DF2-7076-4F99-AB11-9890715126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" t="4351" r="11146" b="4291"/>
          <a:stretch/>
        </p:blipFill>
        <p:spPr>
          <a:xfrm>
            <a:off x="6124575" y="1690687"/>
            <a:ext cx="5514975" cy="3490913"/>
          </a:xfrm>
          <a:prstGeom prst="rect">
            <a:avLst/>
          </a:prstGeom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BC49A19-A865-4BC6-8859-2C49A896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E295BC-3984-41A3-8AF9-D6E2389D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14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5917F-5C21-45DE-89A1-B3DAB6F477E2}"/>
              </a:ext>
            </a:extLst>
          </p:cNvPr>
          <p:cNvSpPr txBox="1"/>
          <p:nvPr/>
        </p:nvSpPr>
        <p:spPr>
          <a:xfrm>
            <a:off x="2255275" y="5435450"/>
            <a:ext cx="7391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Accuracy</a:t>
            </a:r>
            <a:r>
              <a:rPr lang="de-DE" sz="1600" dirty="0"/>
              <a:t> </a:t>
            </a:r>
            <a:r>
              <a:rPr lang="de-DE" sz="1600" b="1" dirty="0" err="1"/>
              <a:t>worsened</a:t>
            </a:r>
            <a:r>
              <a:rPr lang="de-DE" sz="1600" b="1" dirty="0"/>
              <a:t>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b="1" dirty="0"/>
              <a:t>ECC</a:t>
            </a:r>
          </a:p>
          <a:p>
            <a:pPr algn="ctr"/>
            <a:r>
              <a:rPr lang="de-DE" sz="1600" b="1" dirty="0"/>
              <a:t>BER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b="1" dirty="0"/>
              <a:t>0.003</a:t>
            </a:r>
            <a:endParaRPr lang="de-DE" sz="16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94EF90-5DF9-44E8-8849-F0F0EC313E78}"/>
              </a:ext>
            </a:extLst>
          </p:cNvPr>
          <p:cNvSpPr txBox="1"/>
          <p:nvPr/>
        </p:nvSpPr>
        <p:spPr>
          <a:xfrm>
            <a:off x="1254107" y="1411259"/>
            <a:ext cx="3694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16-bit Quantization No Protected Bits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69C477-B386-4512-9D20-E5C3A11CEFEF}"/>
              </a:ext>
            </a:extLst>
          </p:cNvPr>
          <p:cNvSpPr txBox="1"/>
          <p:nvPr/>
        </p:nvSpPr>
        <p:spPr>
          <a:xfrm>
            <a:off x="6949932" y="1400133"/>
            <a:ext cx="3694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16-bit Quantization No Protected Bits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D21C386-6402-4A39-87C7-DE227FE9B394}"/>
              </a:ext>
            </a:extLst>
          </p:cNvPr>
          <p:cNvSpPr txBox="1"/>
          <p:nvPr/>
        </p:nvSpPr>
        <p:spPr>
          <a:xfrm rot="10800000">
            <a:off x="-66675" y="2657475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6825900-655E-4926-81BA-A4E211B668BC}"/>
              </a:ext>
            </a:extLst>
          </p:cNvPr>
          <p:cNvSpPr txBox="1"/>
          <p:nvPr/>
        </p:nvSpPr>
        <p:spPr>
          <a:xfrm rot="10800000">
            <a:off x="5757566" y="2657475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2F0FEC-F102-451A-8486-92F8DCA40681}"/>
              </a:ext>
            </a:extLst>
          </p:cNvPr>
          <p:cNvSpPr txBox="1"/>
          <p:nvPr/>
        </p:nvSpPr>
        <p:spPr>
          <a:xfrm>
            <a:off x="2827870" y="5123859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271C298-2132-4FC6-BD34-6C0EE9A4CA4F}"/>
              </a:ext>
            </a:extLst>
          </p:cNvPr>
          <p:cNvSpPr txBox="1"/>
          <p:nvPr/>
        </p:nvSpPr>
        <p:spPr>
          <a:xfrm>
            <a:off x="8817187" y="5097003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C0155C4D-B719-4949-96E7-E82589F126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605"/>
          <a:stretch/>
        </p:blipFill>
        <p:spPr>
          <a:xfrm>
            <a:off x="10442821" y="753289"/>
            <a:ext cx="1234982" cy="68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05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9B6A-0EFF-4060-90AB-E8274107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 err="1"/>
              <a:t>Results</a:t>
            </a:r>
            <a:r>
              <a:rPr lang="de-DE" b="1" dirty="0"/>
              <a:t>:</a:t>
            </a:r>
            <a:r>
              <a:rPr lang="de-DE" dirty="0"/>
              <a:t> 8-Bit </a:t>
            </a:r>
            <a:r>
              <a:rPr lang="de-DE" dirty="0" err="1"/>
              <a:t>with</a:t>
            </a:r>
            <a:r>
              <a:rPr lang="de-DE" dirty="0"/>
              <a:t> Same BERs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EC851-5822-40C0-9F87-E4EB9BD566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" t="4889" r="11305" b="4882"/>
          <a:stretch/>
        </p:blipFill>
        <p:spPr>
          <a:xfrm>
            <a:off x="2790825" y="1581150"/>
            <a:ext cx="6257926" cy="39147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2EA06-4218-4300-8B85-AF549F44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B56DF-D22B-435A-8439-B6AC4C9F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15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3DCD8-0AEC-4DD9-9F6E-DB30506F3BB7}"/>
              </a:ext>
            </a:extLst>
          </p:cNvPr>
          <p:cNvSpPr txBox="1"/>
          <p:nvPr/>
        </p:nvSpPr>
        <p:spPr>
          <a:xfrm>
            <a:off x="2393815" y="5938252"/>
            <a:ext cx="7391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ECC </a:t>
            </a:r>
            <a:r>
              <a:rPr lang="de-DE" sz="1600" dirty="0" err="1"/>
              <a:t>allows</a:t>
            </a:r>
            <a:r>
              <a:rPr lang="de-DE" sz="1600" dirty="0"/>
              <a:t> </a:t>
            </a:r>
            <a:r>
              <a:rPr lang="de-DE" sz="1600" dirty="0" err="1"/>
              <a:t>increasing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b="1" dirty="0"/>
              <a:t>BER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b="1" dirty="0"/>
              <a:t>0.025 </a:t>
            </a:r>
            <a:r>
              <a:rPr lang="de-DE" sz="1600" dirty="0" err="1"/>
              <a:t>with</a:t>
            </a:r>
            <a:r>
              <a:rPr lang="de-DE" sz="1600" dirty="0"/>
              <a:t> minimal </a:t>
            </a:r>
            <a:r>
              <a:rPr lang="de-DE" sz="1600" dirty="0" err="1"/>
              <a:t>accuracy</a:t>
            </a:r>
            <a:r>
              <a:rPr lang="de-DE" sz="1600" dirty="0"/>
              <a:t> </a:t>
            </a:r>
            <a:r>
              <a:rPr lang="de-DE" sz="1600" dirty="0" err="1"/>
              <a:t>cost</a:t>
            </a:r>
            <a:endParaRPr lang="de-DE" sz="16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F75FBC-03B3-4CC3-BA4F-3A7065638406}"/>
              </a:ext>
            </a:extLst>
          </p:cNvPr>
          <p:cNvSpPr txBox="1"/>
          <p:nvPr/>
        </p:nvSpPr>
        <p:spPr>
          <a:xfrm>
            <a:off x="5606363" y="546830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C28988-D24A-4CA2-9494-6AE1996F54A7}"/>
              </a:ext>
            </a:extLst>
          </p:cNvPr>
          <p:cNvSpPr txBox="1"/>
          <p:nvPr/>
        </p:nvSpPr>
        <p:spPr>
          <a:xfrm>
            <a:off x="4038600" y="1246165"/>
            <a:ext cx="3574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8-bit Quantization No Protected Bits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06D9C77-F21F-4DC1-96D1-1C041CD21E11}"/>
              </a:ext>
            </a:extLst>
          </p:cNvPr>
          <p:cNvSpPr txBox="1"/>
          <p:nvPr/>
        </p:nvSpPr>
        <p:spPr>
          <a:xfrm rot="10800000">
            <a:off x="2329160" y="2963616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D41ED03-226F-4E7C-9F21-28E955001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350" y="3054597"/>
            <a:ext cx="1234982" cy="8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0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9B6A-0EFF-4060-90AB-E8274107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 err="1"/>
              <a:t>Results</a:t>
            </a:r>
            <a:r>
              <a:rPr lang="de-DE" b="1" dirty="0"/>
              <a:t>:</a:t>
            </a:r>
            <a:r>
              <a:rPr lang="de-DE" dirty="0"/>
              <a:t> 4-Bit </a:t>
            </a:r>
            <a:r>
              <a:rPr lang="de-DE" dirty="0" err="1"/>
              <a:t>with</a:t>
            </a:r>
            <a:r>
              <a:rPr lang="de-DE" dirty="0"/>
              <a:t> Same BERs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421FE-1EF4-4B3E-920E-F43D741F8D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" t="4776" r="11106" b="4399"/>
          <a:stretch/>
        </p:blipFill>
        <p:spPr>
          <a:xfrm>
            <a:off x="2790825" y="1504950"/>
            <a:ext cx="6200776" cy="391996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F3101-4FA0-4951-8EAC-0DEEB5DC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7D8A17-5882-48FF-8E79-6A4CE6E7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16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73F0B-EE5C-4A8A-BF8C-EEF0B9B55821}"/>
              </a:ext>
            </a:extLst>
          </p:cNvPr>
          <p:cNvSpPr txBox="1"/>
          <p:nvPr/>
        </p:nvSpPr>
        <p:spPr>
          <a:xfrm>
            <a:off x="2356871" y="5795377"/>
            <a:ext cx="7391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ECC </a:t>
            </a:r>
            <a:r>
              <a:rPr lang="de-DE" sz="1600" dirty="0" err="1"/>
              <a:t>allows</a:t>
            </a:r>
            <a:r>
              <a:rPr lang="de-DE" sz="1600" dirty="0"/>
              <a:t> </a:t>
            </a:r>
            <a:r>
              <a:rPr lang="de-DE" sz="1600" dirty="0" err="1"/>
              <a:t>increasing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b="1" dirty="0"/>
              <a:t>BER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b="1" dirty="0"/>
              <a:t>0.05 </a:t>
            </a:r>
            <a:r>
              <a:rPr lang="de-DE" sz="1600" dirty="0" err="1"/>
              <a:t>with</a:t>
            </a:r>
            <a:r>
              <a:rPr lang="de-DE" sz="1600" dirty="0"/>
              <a:t> minimal </a:t>
            </a:r>
            <a:r>
              <a:rPr lang="de-DE" sz="1600" dirty="0" err="1"/>
              <a:t>accuracy</a:t>
            </a:r>
            <a:r>
              <a:rPr lang="de-DE" sz="1600" dirty="0"/>
              <a:t> </a:t>
            </a:r>
            <a:r>
              <a:rPr lang="de-DE" sz="1600" dirty="0" err="1"/>
              <a:t>cost</a:t>
            </a:r>
            <a:endParaRPr lang="de-DE" sz="16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41786E-7478-42A7-9245-8B6BE49ED497}"/>
              </a:ext>
            </a:extLst>
          </p:cNvPr>
          <p:cNvSpPr txBox="1"/>
          <p:nvPr/>
        </p:nvSpPr>
        <p:spPr>
          <a:xfrm>
            <a:off x="5606363" y="533495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BER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F4BED89-7ABF-4604-8834-523BE0D42FB3}"/>
              </a:ext>
            </a:extLst>
          </p:cNvPr>
          <p:cNvSpPr txBox="1"/>
          <p:nvPr/>
        </p:nvSpPr>
        <p:spPr>
          <a:xfrm>
            <a:off x="4038600" y="1208065"/>
            <a:ext cx="3574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de-DE" altLang="ja-JP" dirty="0"/>
              <a:t>4-bit Quantization No Protected Bits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B7FC435-A219-40DC-8235-D9102DD47F03}"/>
              </a:ext>
            </a:extLst>
          </p:cNvPr>
          <p:cNvSpPr txBox="1"/>
          <p:nvPr/>
        </p:nvSpPr>
        <p:spPr>
          <a:xfrm rot="10800000">
            <a:off x="2414885" y="2963616"/>
            <a:ext cx="461665" cy="93076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de-DE" altLang="ja-JP" dirty="0"/>
              <a:t>Accuracy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C7EB88B-3052-4E27-8E0C-CA3D802CB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523" y="3054597"/>
            <a:ext cx="1234982" cy="8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43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5FA4-C33C-4361-8F13-F5B3E7E2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 err="1"/>
              <a:t>Results</a:t>
            </a:r>
            <a:r>
              <a:rPr lang="de-DE" b="1" dirty="0"/>
              <a:t>:</a:t>
            </a:r>
            <a:r>
              <a:rPr lang="de-DE" dirty="0"/>
              <a:t> Potential Energy </a:t>
            </a:r>
            <a:r>
              <a:rPr lang="de-DE" dirty="0" err="1"/>
              <a:t>Saving</a:t>
            </a:r>
            <a:r>
              <a:rPr lang="en-US" sz="4400" baseline="30000" dirty="0"/>
              <a:t>1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407C-3A02-4CF1-8847-5A729C2A8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Split BER: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Same BER: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de-DE" sz="1200" dirty="0"/>
              <a:t>L. Yang and B. Murmann, "SRAM </a:t>
            </a:r>
            <a:r>
              <a:rPr lang="de-DE" sz="1200" dirty="0" err="1"/>
              <a:t>voltage</a:t>
            </a:r>
            <a:r>
              <a:rPr lang="de-DE" sz="1200" dirty="0"/>
              <a:t> </a:t>
            </a:r>
            <a:r>
              <a:rPr lang="de-DE" sz="1200" dirty="0" err="1"/>
              <a:t>scaling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energy-efficient</a:t>
            </a:r>
            <a:r>
              <a:rPr lang="de-DE" sz="1200" dirty="0"/>
              <a:t> </a:t>
            </a:r>
            <a:r>
              <a:rPr lang="de-DE" sz="1200" dirty="0" err="1"/>
              <a:t>convolutional</a:t>
            </a:r>
            <a:r>
              <a:rPr lang="de-DE" sz="1200" dirty="0"/>
              <a:t> </a:t>
            </a:r>
            <a:r>
              <a:rPr lang="de-DE" sz="1200" dirty="0" err="1"/>
              <a:t>neural</a:t>
            </a:r>
            <a:r>
              <a:rPr lang="de-DE" sz="1200" dirty="0"/>
              <a:t> </a:t>
            </a:r>
            <a:r>
              <a:rPr lang="de-DE" sz="1200" dirty="0" err="1"/>
              <a:t>networks</a:t>
            </a:r>
            <a:r>
              <a:rPr lang="de-DE" sz="1200" dirty="0"/>
              <a:t>," </a:t>
            </a:r>
            <a:r>
              <a:rPr lang="de-DE" sz="1200" i="1" dirty="0"/>
              <a:t>2017 18th International Symposium on Quality Electronic Design (ISQED)</a:t>
            </a:r>
            <a:r>
              <a:rPr lang="de-DE" sz="1200" dirty="0"/>
              <a:t>, Santa Clara, CA, USA, 2017, pp. 7-12, </a:t>
            </a:r>
            <a:r>
              <a:rPr lang="de-DE" sz="1200" dirty="0" err="1"/>
              <a:t>doi</a:t>
            </a:r>
            <a:r>
              <a:rPr lang="de-DE" sz="1200" dirty="0"/>
              <a:t>: 10.1109/ISQED.2017.7918284.</a:t>
            </a:r>
            <a:r>
              <a:rPr lang="en-US" sz="1700" baseline="30000" dirty="0"/>
              <a:t>1</a:t>
            </a:r>
            <a:endParaRPr lang="de-DE" sz="1700" baseline="30000" dirty="0"/>
          </a:p>
          <a:p>
            <a:endParaRPr lang="de-D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C33269-80DE-4FE6-BA73-5099B6EFE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547410"/>
              </p:ext>
            </p:extLst>
          </p:nvPr>
        </p:nvGraphicFramePr>
        <p:xfrm>
          <a:off x="3602182" y="2233180"/>
          <a:ext cx="410520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072">
                  <a:extLst>
                    <a:ext uri="{9D8B030D-6E8A-4147-A177-3AD203B41FA5}">
                      <a16:colId xmlns:a16="http://schemas.microsoft.com/office/drawing/2014/main" val="2033899798"/>
                    </a:ext>
                  </a:extLst>
                </a:gridCol>
                <a:gridCol w="1428623">
                  <a:extLst>
                    <a:ext uri="{9D8B030D-6E8A-4147-A177-3AD203B41FA5}">
                      <a16:colId xmlns:a16="http://schemas.microsoft.com/office/drawing/2014/main" val="3168175317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1390652848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2519852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Unprotected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4-Bit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9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Voltage</a:t>
                      </a:r>
                      <a:endParaRPr lang="de-DE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0.54V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0.49V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0.47V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36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  <a:r>
                        <a:rPr lang="de-DE" baseline="30000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897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5CA14A-1866-4468-8CB0-26332AAC4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945473"/>
              </p:ext>
            </p:extLst>
          </p:nvPr>
        </p:nvGraphicFramePr>
        <p:xfrm>
          <a:off x="3602182" y="3991653"/>
          <a:ext cx="412915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039">
                  <a:extLst>
                    <a:ext uri="{9D8B030D-6E8A-4147-A177-3AD203B41FA5}">
                      <a16:colId xmlns:a16="http://schemas.microsoft.com/office/drawing/2014/main" val="940945278"/>
                    </a:ext>
                  </a:extLst>
                </a:gridCol>
                <a:gridCol w="1641602">
                  <a:extLst>
                    <a:ext uri="{9D8B030D-6E8A-4147-A177-3AD203B41FA5}">
                      <a16:colId xmlns:a16="http://schemas.microsoft.com/office/drawing/2014/main" val="3890809100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1390652848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2519852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16-Bit (</a:t>
                      </a:r>
                      <a:r>
                        <a:rPr lang="de-DE" dirty="0" err="1"/>
                        <a:t>no</a:t>
                      </a:r>
                      <a:r>
                        <a:rPr lang="de-DE" dirty="0"/>
                        <a:t> ECC)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4-Bit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9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Voltage</a:t>
                      </a:r>
                      <a:endParaRPr lang="de-DE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0.51V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0.49V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0.47V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364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276763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BBD1C-C0A0-4337-B1A7-D55BC3FF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9A0D62-CCF3-4B24-9FA0-EE253553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81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5FA4-C33C-4361-8F13-F5B3E7E2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Conclusion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407C-3A02-4CF1-8847-5A729C2A8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60675"/>
          </a:xfrm>
        </p:spPr>
        <p:txBody>
          <a:bodyPr>
            <a:normAutofit lnSpcReduction="10000"/>
          </a:bodyPr>
          <a:lstStyle/>
          <a:p>
            <a:r>
              <a:rPr lang="de-DE" b="1" dirty="0"/>
              <a:t>ECC </a:t>
            </a:r>
            <a:r>
              <a:rPr lang="de-DE" dirty="0"/>
              <a:t>allows </a:t>
            </a:r>
            <a:r>
              <a:rPr lang="de-DE" b="1" dirty="0"/>
              <a:t>higher </a:t>
            </a:r>
            <a:r>
              <a:rPr lang="de-DE" dirty="0"/>
              <a:t>BERs </a:t>
            </a:r>
            <a:r>
              <a:rPr lang="de-DE" b="1" dirty="0"/>
              <a:t>without </a:t>
            </a:r>
            <a:r>
              <a:rPr lang="de-DE" dirty="0"/>
              <a:t>sacrificing model </a:t>
            </a:r>
            <a:r>
              <a:rPr lang="de-DE" b="1" dirty="0"/>
              <a:t>accuracy</a:t>
            </a:r>
          </a:p>
          <a:p>
            <a:endParaRPr lang="de-DE" dirty="0"/>
          </a:p>
          <a:p>
            <a:r>
              <a:rPr lang="de-DE" b="1" dirty="0"/>
              <a:t>Cost </a:t>
            </a:r>
            <a:r>
              <a:rPr lang="de-DE" dirty="0"/>
              <a:t>and </a:t>
            </a:r>
            <a:r>
              <a:rPr lang="de-DE" b="1" dirty="0"/>
              <a:t>Effort </a:t>
            </a:r>
            <a:r>
              <a:rPr lang="de-DE" dirty="0"/>
              <a:t>of </a:t>
            </a:r>
            <a:r>
              <a:rPr lang="de-DE" b="1" dirty="0"/>
              <a:t>Splitting </a:t>
            </a:r>
            <a:r>
              <a:rPr lang="de-DE" dirty="0"/>
              <a:t>up Operating Voltages is </a:t>
            </a:r>
            <a:r>
              <a:rPr lang="de-DE" b="1" dirty="0"/>
              <a:t>not worth</a:t>
            </a:r>
            <a:r>
              <a:rPr lang="de-DE" dirty="0"/>
              <a:t> it</a:t>
            </a:r>
          </a:p>
          <a:p>
            <a:endParaRPr lang="de-DE" dirty="0"/>
          </a:p>
          <a:p>
            <a:r>
              <a:rPr lang="de-DE" dirty="0"/>
              <a:t>Most </a:t>
            </a:r>
            <a:r>
              <a:rPr lang="de-DE" b="1" dirty="0"/>
              <a:t>effective </a:t>
            </a:r>
            <a:r>
              <a:rPr lang="de-DE" dirty="0"/>
              <a:t>Energy Saving via </a:t>
            </a:r>
            <a:r>
              <a:rPr lang="de-DE" b="1" dirty="0"/>
              <a:t>low bit count </a:t>
            </a:r>
            <a:r>
              <a:rPr lang="de-DE" dirty="0"/>
              <a:t>combined with </a:t>
            </a:r>
            <a:r>
              <a:rPr lang="de-DE" b="1" dirty="0"/>
              <a:t>ECC method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BBD1C-C0A0-4337-B1A7-D55BC3FF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Selective Parity Protection for Resilient Low-Voltage SRAM in Quantized Neural Networks - Oğulcan Aşık</a:t>
            </a:r>
            <a:endParaRPr lang="de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9A0D62-CCF3-4B24-9FA0-EE253553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357A-404B-4499-B3B4-E4B1D5E2ED21}" type="slidenum">
              <a:rPr lang="de-DE" smtClean="0"/>
              <a:t>18</a:t>
            </a:fld>
            <a:endParaRPr lang="de-DE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2D1F26-4694-4A3A-AFE8-8172FC018820}"/>
              </a:ext>
            </a:extLst>
          </p:cNvPr>
          <p:cNvSpPr txBox="1"/>
          <p:nvPr/>
        </p:nvSpPr>
        <p:spPr>
          <a:xfrm>
            <a:off x="838200" y="4821237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altLang="ja-JP" sz="3200" b="1" dirty="0"/>
              <a:t>ECC + Quantization </a:t>
            </a:r>
            <a:r>
              <a:rPr lang="de-DE" altLang="ja-JP" sz="3200" dirty="0"/>
              <a:t>makes </a:t>
            </a:r>
            <a:r>
              <a:rPr lang="de-DE" altLang="ja-JP" sz="3200" u="sng" dirty="0"/>
              <a:t>Energy Saving</a:t>
            </a:r>
            <a:r>
              <a:rPr lang="de-DE" altLang="ja-JP" sz="3200" dirty="0"/>
              <a:t> without significant </a:t>
            </a:r>
            <a:r>
              <a:rPr lang="de-DE" altLang="ja-JP" sz="3200" u="sng" dirty="0"/>
              <a:t>Accuracy loss</a:t>
            </a:r>
            <a:r>
              <a:rPr lang="de-DE" altLang="ja-JP" sz="3200" dirty="0"/>
              <a:t> </a:t>
            </a:r>
            <a:r>
              <a:rPr lang="de-DE" altLang="ja-JP" sz="3200" b="1" dirty="0"/>
              <a:t>possible</a:t>
            </a:r>
          </a:p>
        </p:txBody>
      </p:sp>
      <p:sp>
        <p:nvSpPr>
          <p:cNvPr id="7" name="星: 5 pt 6">
            <a:extLst>
              <a:ext uri="{FF2B5EF4-FFF2-40B4-BE49-F238E27FC236}">
                <a16:creationId xmlns:a16="http://schemas.microsoft.com/office/drawing/2014/main" id="{04C6CF4C-D24F-4180-A205-B0C354E024F0}"/>
              </a:ext>
            </a:extLst>
          </p:cNvPr>
          <p:cNvSpPr/>
          <p:nvPr/>
        </p:nvSpPr>
        <p:spPr>
          <a:xfrm>
            <a:off x="564356" y="4821237"/>
            <a:ext cx="547688" cy="50889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1388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C415-9F9C-48A0-8EEE-5A0CB77E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63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Listening</a:t>
            </a:r>
          </a:p>
        </p:txBody>
      </p:sp>
    </p:spTree>
    <p:extLst>
      <p:ext uri="{BB962C8B-B14F-4D97-AF65-F5344CB8AC3E}">
        <p14:creationId xmlns:p14="http://schemas.microsoft.com/office/powerpoint/2010/main" val="54472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1186</Words>
  <Application>Microsoft Office PowerPoint</Application>
  <PresentationFormat>ワイド画面</PresentationFormat>
  <Paragraphs>326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6" baseType="lpstr">
      <vt:lpstr>MS Mincho</vt:lpstr>
      <vt:lpstr>游ゴシック</vt:lpstr>
      <vt:lpstr>Arial</vt:lpstr>
      <vt:lpstr>Calibri</vt:lpstr>
      <vt:lpstr>Calibri Light</vt:lpstr>
      <vt:lpstr>Times New Roman</vt:lpstr>
      <vt:lpstr>Office Theme</vt:lpstr>
      <vt:lpstr>Selective Parity Protection for Resilient Low-Voltage SRAM in Quantized Neural Networks</vt:lpstr>
      <vt:lpstr>Motivation</vt:lpstr>
      <vt:lpstr>Common Solutions</vt:lpstr>
      <vt:lpstr>Methodology</vt:lpstr>
      <vt:lpstr>Methodology</vt:lpstr>
      <vt:lpstr>Methodology: CNN</vt:lpstr>
      <vt:lpstr>Methodology: Quantization</vt:lpstr>
      <vt:lpstr>PowerPoint プレゼンテーション</vt:lpstr>
      <vt:lpstr>Methodology: ECC – Hamming Code Correction</vt:lpstr>
      <vt:lpstr>Methodology: Bit Error Simulation</vt:lpstr>
      <vt:lpstr>Results: 8-Bit with Split BERs</vt:lpstr>
      <vt:lpstr>Results: 8-Bit with Split BERs </vt:lpstr>
      <vt:lpstr>PowerPoint プレゼンテーション</vt:lpstr>
      <vt:lpstr>Results: 16-Bit with Same BERs </vt:lpstr>
      <vt:lpstr>Results: 8-Bit with Same BERs </vt:lpstr>
      <vt:lpstr>Results: 4-Bit with Same BERs </vt:lpstr>
      <vt:lpstr>Results: Potential Energy Saving1</vt:lpstr>
      <vt:lpstr>Conclusion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Parity Protection for Resilient Low-Voltage SRAM in Quantized Neural Networks</dc:title>
  <dc:creator>Ogulcan Asik</dc:creator>
  <cp:lastModifiedBy>chta0603</cp:lastModifiedBy>
  <cp:revision>67</cp:revision>
  <dcterms:created xsi:type="dcterms:W3CDTF">2026-01-07T09:18:24Z</dcterms:created>
  <dcterms:modified xsi:type="dcterms:W3CDTF">2026-01-26T10:33:52Z</dcterms:modified>
</cp:coreProperties>
</file>