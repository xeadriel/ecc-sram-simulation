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84" r:id="rId6"/>
    <p:sldId id="287" r:id="rId7"/>
    <p:sldId id="260" r:id="rId8"/>
    <p:sldId id="262" r:id="rId9"/>
    <p:sldId id="263" r:id="rId10"/>
    <p:sldId id="264" r:id="rId11"/>
    <p:sldId id="269" r:id="rId12"/>
    <p:sldId id="272" r:id="rId13"/>
    <p:sldId id="285" r:id="rId14"/>
    <p:sldId id="276" r:id="rId15"/>
    <p:sldId id="278" r:id="rId16"/>
    <p:sldId id="279" r:id="rId17"/>
    <p:sldId id="280" r:id="rId18"/>
    <p:sldId id="282" r:id="rId19"/>
    <p:sldId id="286" r:id="rId20"/>
    <p:sldId id="283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23" autoAdjust="0"/>
  </p:normalViewPr>
  <p:slideViewPr>
    <p:cSldViewPr snapToGrid="0">
      <p:cViewPr varScale="1">
        <p:scale>
          <a:sx n="104" d="100"/>
          <a:sy n="104" d="100"/>
        </p:scale>
        <p:origin x="14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5173E7-3A60-42A0-A850-31A3072E7AB1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689946-61F3-4DEA-80FC-0EBA7789121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2639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33755-0CB5-4D6D-8BBD-D0F8873AF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AE9FA8-7E6F-487C-B061-D1116FB86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069EB-42E3-4E1E-B3E2-56BF33124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163A6-1DFC-480C-871D-353A3C922213}" type="datetime1">
              <a:rPr lang="de-DE" smtClean="0"/>
              <a:t>15.01.2026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BEFFB-B23E-48CE-8963-A8F8BA133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BED21-620D-41FB-BB9C-316614A3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2628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BE41A-C1DA-43BF-AC6E-0B07F47E5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E199A-3BBF-48CF-9C27-66953E4FB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FBFF6-80B9-4500-A53B-F6DDF8E92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EE074-225A-4F7F-A467-FC074ACF1A2D}" type="datetime1">
              <a:rPr lang="de-DE" smtClean="0"/>
              <a:t>15.01.2026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73EDF-181B-4051-AA92-1A9E15AE0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64796-129C-49D8-B0F8-1F0AC9A42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6859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0FED9-9CBB-4D2E-A619-1799F24B4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E18FB-712E-4A2C-8311-46FF83334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178764-225E-421B-B925-42C3F8C25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24A6E-43CD-490E-8265-B508A53AEDB7}" type="datetime1">
              <a:rPr lang="de-DE" smtClean="0"/>
              <a:t>15.01.2026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1D781-E5EC-43B3-BD6D-CC9FC3F0C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A4029-CD6F-4949-A402-6AA3F19D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4375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F4E12-23CE-4383-99B6-CE75C3002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9D342-A3AC-4F85-A21A-89C6D5362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AFB9AE-33D8-4A1A-9A77-A32C639FE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BB3456-CCF6-40FA-AF08-65B21987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16678-CFDB-4786-B700-291F2684B8A1}" type="datetime1">
              <a:rPr lang="de-DE" smtClean="0"/>
              <a:t>15.01.2026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9025-EF20-4521-9DAD-A0FF785B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8B24EC-8461-4B9A-8507-F54C1E5E8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94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58E0F-7437-4EBC-BCD5-820D9F019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F6616-D52C-4A7C-AD9C-62813097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A27C39-1C17-4F98-A381-9F6D31F95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06EA5F-7106-4F61-8060-C201A28748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FE913-51B5-4971-9A7D-414AE0DAB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28F5F8-5F3C-4FC4-BD3C-988AECD91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16AA3-7622-4BB4-BF7B-822ECC8D913A}" type="datetime1">
              <a:rPr lang="de-DE" smtClean="0"/>
              <a:t>15.01.2026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3FAF6C-5868-44F1-8063-375D4C62B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BCC931-12E0-4BD2-8BDD-690559FB5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726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AE852-17A6-4D0A-8637-847D34377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8DD8E1-48F3-481E-9029-C306FE114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3F08-1CEB-45D2-AF7A-54A6880A4DF1}" type="datetime1">
              <a:rPr lang="de-DE" smtClean="0"/>
              <a:t>15.01.2026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24D7C3-187D-4CB1-BC04-C2C319249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D58393-B93E-43C5-A07D-074903DA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1906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F85116-2661-4D58-87CF-186E49370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9C499-FAD1-4563-BD2F-91D481B340D2}" type="datetime1">
              <a:rPr lang="de-DE" smtClean="0"/>
              <a:t>15.01.2026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82BD58-93CF-431F-A5F3-BD3C5BF1C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B13D6-3251-4BC3-B5AA-252BF0A0A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6137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0A2C6-49A2-4284-BC63-5C409E5E5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D012C-31D8-4DC8-BBF6-A01202282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DE82A8-A7C8-43D1-B688-A48A21E118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1FA1D-CAB4-47D7-AD17-8E2098207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3D9D-ADB3-4CB3-88DF-980912DA64CC}" type="datetime1">
              <a:rPr lang="de-DE" smtClean="0"/>
              <a:t>15.01.2026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A38E4-6F5A-468A-A77D-2A5BCAE64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8D4C48-EEAC-47BE-AA92-B540FBF31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6100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D2745-3F6E-4245-9EDC-2F5C2517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CE0776-D750-4C98-BB07-0FA34A708C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8D7944-D5DC-49EE-837F-F4C3252DE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0761C-CEE4-4310-97FB-526389299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E2B0A-7343-4E4A-9199-C5934BA7A990}" type="datetime1">
              <a:rPr lang="de-DE" smtClean="0"/>
              <a:t>15.01.2026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97CC0D-3438-469D-9CF0-A2980BABA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3B4EB-4B0C-4FE9-9389-7E9A0244D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5186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C9176-0709-4BBD-B657-71AA5C18E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E7CFAF-F91D-4869-B1B4-3C492C689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4DF96-3CAD-47C0-99AA-B2E24417E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BFDA2-9E55-4D0E-BA2A-7752031CC097}" type="datetime1">
              <a:rPr lang="de-DE" smtClean="0"/>
              <a:t>15.01.2026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7B32E7-85ED-401A-BEAD-229341EDC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D29B4-F6C0-43FF-AAB6-CB6E72D85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1238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77CAD8-A6FE-4E49-8687-219183AF3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29E208-A1FB-4F8D-BD42-53162F655E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3DAEA1-4804-44AE-B862-0FF530AAB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DE3CC-F244-4B34-A5A8-06E47C64C32D}" type="datetime1">
              <a:rPr lang="de-DE" smtClean="0"/>
              <a:t>15.01.2026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FDAFA-B610-43AC-8804-68611555B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29D80-31DD-4616-BCD8-324E612FF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655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68E131-B215-4439-906F-D8A00E0FA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555D23-942A-4F2D-8BBD-6EF0AA1F90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EF4A5-F8C4-402A-A2A0-690DDE6C9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0215A-1F56-4E00-9C38-A925D6CC15E5}" type="datetime1">
              <a:rPr lang="de-DE" smtClean="0"/>
              <a:t>15.01.2026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45449C-7C2C-4F05-A420-06CE1EE2B8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08FD2-9592-47BD-B460-87A4A976D2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03357A-404B-4499-B3B4-E4B1D5E2ED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5950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FF308-0708-4CAE-AA21-35A680E192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sz="3600" dirty="0" err="1"/>
              <a:t>Selective</a:t>
            </a:r>
            <a:r>
              <a:rPr lang="de-DE" sz="3600" dirty="0"/>
              <a:t> Parity </a:t>
            </a:r>
            <a:r>
              <a:rPr lang="de-DE" sz="3600" dirty="0" err="1"/>
              <a:t>Protection</a:t>
            </a:r>
            <a:r>
              <a:rPr lang="de-DE" sz="3600" dirty="0"/>
              <a:t> </a:t>
            </a:r>
            <a:r>
              <a:rPr lang="de-DE" sz="3600" dirty="0" err="1"/>
              <a:t>for</a:t>
            </a:r>
            <a:r>
              <a:rPr lang="de-DE" sz="3600" dirty="0"/>
              <a:t> Resilient Low-</a:t>
            </a:r>
            <a:r>
              <a:rPr lang="de-DE" sz="3600" dirty="0" err="1"/>
              <a:t>Voltage</a:t>
            </a:r>
            <a:r>
              <a:rPr lang="de-DE" sz="3600" dirty="0"/>
              <a:t> SRAM in </a:t>
            </a:r>
            <a:r>
              <a:rPr lang="de-DE" sz="3600" dirty="0" err="1"/>
              <a:t>Quantized</a:t>
            </a:r>
            <a:r>
              <a:rPr lang="de-DE" sz="3600" dirty="0"/>
              <a:t> </a:t>
            </a:r>
            <a:r>
              <a:rPr lang="de-DE" sz="3600" dirty="0" err="1"/>
              <a:t>Neural</a:t>
            </a:r>
            <a:r>
              <a:rPr lang="de-DE" sz="3600" dirty="0"/>
              <a:t> Networks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E4589-3AA1-43FC-992B-725FD1112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de-DE" sz="3200" i="1" dirty="0" err="1">
                <a:effectLst/>
                <a:latin typeface="Calibri" panose="020F050202020403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Oğulcan</a:t>
            </a:r>
            <a:r>
              <a:rPr lang="de-DE" sz="3200" i="1" dirty="0">
                <a:effectLst/>
                <a:latin typeface="Calibri" panose="020F050202020403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3200" i="1" dirty="0" err="1">
                <a:effectLst/>
                <a:latin typeface="Calibri" panose="020F050202020403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Aşık</a:t>
            </a:r>
            <a:endParaRPr lang="de-DE" sz="3200" i="1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endParaRPr lang="de-DE" sz="4000" i="1" dirty="0"/>
          </a:p>
        </p:txBody>
      </p:sp>
    </p:spTree>
    <p:extLst>
      <p:ext uri="{BB962C8B-B14F-4D97-AF65-F5344CB8AC3E}">
        <p14:creationId xmlns:p14="http://schemas.microsoft.com/office/powerpoint/2010/main" val="1345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EE12C-AE10-4F5E-82EE-46A7C175A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296E3-E311-4595-B474-7F667C4F1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99242"/>
          </a:xfrm>
        </p:spPr>
        <p:txBody>
          <a:bodyPr/>
          <a:lstStyle/>
          <a:p>
            <a:r>
              <a:rPr lang="de-DE" dirty="0"/>
              <a:t>Large AI Models</a:t>
            </a:r>
          </a:p>
          <a:p>
            <a:pPr lvl="1">
              <a:buFont typeface="Calibri" panose="020F0502020204030204" pitchFamily="34" charset="0"/>
              <a:buChar char="→"/>
            </a:pPr>
            <a:r>
              <a:rPr lang="de-DE" dirty="0"/>
              <a:t>High Energy </a:t>
            </a:r>
            <a:r>
              <a:rPr lang="de-DE" dirty="0" err="1"/>
              <a:t>Requirements</a:t>
            </a:r>
            <a:endParaRPr lang="de-DE" dirty="0"/>
          </a:p>
          <a:p>
            <a:pPr lvl="2">
              <a:buFont typeface="Calibri" panose="020F0502020204030204" pitchFamily="34" charset="0"/>
              <a:buChar char="→"/>
            </a:pPr>
            <a:r>
              <a:rPr lang="de-DE" dirty="0"/>
              <a:t>Expensive!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de-DE" dirty="0"/>
              <a:t>Bad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Environment!</a:t>
            </a:r>
          </a:p>
          <a:p>
            <a:pPr lvl="1">
              <a:buFont typeface="Calibri" panose="020F0502020204030204" pitchFamily="34" charset="0"/>
              <a:buChar char="→"/>
            </a:pPr>
            <a:r>
              <a:rPr lang="de-DE" dirty="0"/>
              <a:t>High </a:t>
            </a:r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  <a:p>
            <a:pPr lvl="2">
              <a:buFont typeface="Calibri" panose="020F0502020204030204" pitchFamily="34" charset="0"/>
              <a:buChar char="→"/>
            </a:pPr>
            <a:r>
              <a:rPr lang="de-DE" dirty="0"/>
              <a:t>Expensive!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1AC455-B0C6-45F9-B7D1-53935FF48BC8}"/>
              </a:ext>
            </a:extLst>
          </p:cNvPr>
          <p:cNvSpPr txBox="1"/>
          <p:nvPr/>
        </p:nvSpPr>
        <p:spPr>
          <a:xfrm>
            <a:off x="2091267" y="4545124"/>
            <a:ext cx="7171266" cy="2480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 err="1"/>
              <a:t>What</a:t>
            </a:r>
            <a:r>
              <a:rPr lang="de-DE" sz="3200" b="1" dirty="0"/>
              <a:t> </a:t>
            </a:r>
            <a:r>
              <a:rPr lang="de-DE" sz="3200" b="1" dirty="0" err="1"/>
              <a:t>can</a:t>
            </a:r>
            <a:r>
              <a:rPr lang="de-DE" sz="3200" b="1" dirty="0"/>
              <a:t> </a:t>
            </a:r>
            <a:r>
              <a:rPr lang="de-DE" sz="3200" b="1" dirty="0" err="1"/>
              <a:t>we</a:t>
            </a:r>
            <a:r>
              <a:rPr lang="de-DE" sz="3200" b="1" dirty="0"/>
              <a:t> do </a:t>
            </a:r>
            <a:r>
              <a:rPr lang="de-DE" sz="3200" b="1" dirty="0" err="1"/>
              <a:t>about</a:t>
            </a:r>
            <a:r>
              <a:rPr lang="de-DE" sz="3200" b="1" dirty="0"/>
              <a:t> </a:t>
            </a:r>
            <a:r>
              <a:rPr lang="de-DE" sz="3200" b="1" dirty="0" err="1"/>
              <a:t>this</a:t>
            </a:r>
            <a:r>
              <a:rPr lang="de-DE" sz="3200" b="1" dirty="0"/>
              <a:t>?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AAEB6-9310-443C-B370-30FF81885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65A8E2-618C-458E-9DEC-D2CA1178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827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A4A71-D2EF-47EB-AE16-B77A37A01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Common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5EF83-4461-4574-9CF5-410929C2C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de-DE" sz="2400" dirty="0" err="1"/>
              <a:t>Quantization</a:t>
            </a:r>
            <a:endParaRPr lang="de-DE" sz="2400" dirty="0"/>
          </a:p>
          <a:p>
            <a:pPr lvl="1">
              <a:buFont typeface="Calibri" panose="020F0502020204030204" pitchFamily="34" charset="0"/>
              <a:buChar char="→"/>
            </a:pPr>
            <a:r>
              <a:rPr lang="de-DE" sz="2000" dirty="0"/>
              <a:t>Impact on </a:t>
            </a:r>
            <a:r>
              <a:rPr lang="de-DE" sz="2000" dirty="0" err="1"/>
              <a:t>Accuracy</a:t>
            </a:r>
            <a:r>
              <a:rPr lang="de-DE" sz="2000" dirty="0"/>
              <a:t> </a:t>
            </a:r>
            <a:r>
              <a:rPr lang="de-DE" sz="2000" dirty="0" err="1"/>
              <a:t>Depends</a:t>
            </a:r>
            <a:r>
              <a:rPr lang="de-DE" sz="2000" dirty="0"/>
              <a:t> on Method </a:t>
            </a:r>
            <a:r>
              <a:rPr lang="de-DE" sz="2000" dirty="0" err="1"/>
              <a:t>Used</a:t>
            </a:r>
            <a:endParaRPr lang="de-DE" sz="2000" dirty="0"/>
          </a:p>
          <a:p>
            <a:pPr marL="0" indent="0">
              <a:buNone/>
            </a:pPr>
            <a:endParaRPr lang="de-DE" sz="2400" dirty="0"/>
          </a:p>
          <a:p>
            <a:r>
              <a:rPr lang="de-DE" sz="2400" dirty="0" err="1"/>
              <a:t>Lowering</a:t>
            </a:r>
            <a:r>
              <a:rPr lang="de-DE" sz="2400" dirty="0"/>
              <a:t> Operating </a:t>
            </a:r>
            <a:r>
              <a:rPr lang="de-DE" sz="2400" dirty="0" err="1"/>
              <a:t>Voltage</a:t>
            </a:r>
            <a:endParaRPr lang="de-DE" sz="2400" dirty="0"/>
          </a:p>
          <a:p>
            <a:pPr lvl="1">
              <a:buFont typeface="Calibri" panose="020F0502020204030204" pitchFamily="34" charset="0"/>
              <a:buChar char="→"/>
            </a:pPr>
            <a:r>
              <a:rPr lang="de-DE" sz="2000" dirty="0" err="1"/>
              <a:t>Increases</a:t>
            </a:r>
            <a:r>
              <a:rPr lang="de-DE" sz="2000" dirty="0"/>
              <a:t> Bit Error Rate (BER) </a:t>
            </a:r>
            <a:r>
              <a:rPr lang="de-DE" sz="2000" dirty="0" err="1"/>
              <a:t>Which</a:t>
            </a:r>
            <a:r>
              <a:rPr lang="de-DE" sz="2000" dirty="0"/>
              <a:t> </a:t>
            </a:r>
            <a:r>
              <a:rPr lang="de-DE" sz="2000" dirty="0" err="1"/>
              <a:t>Lowers</a:t>
            </a:r>
            <a:r>
              <a:rPr lang="de-DE" sz="2000" dirty="0"/>
              <a:t> </a:t>
            </a:r>
            <a:r>
              <a:rPr lang="de-DE" sz="2000" dirty="0" err="1"/>
              <a:t>Accuracy</a:t>
            </a:r>
            <a:endParaRPr lang="de-DE" sz="2000" dirty="0"/>
          </a:p>
          <a:p>
            <a:endParaRPr lang="de-DE" sz="2400" dirty="0"/>
          </a:p>
          <a:p>
            <a:r>
              <a:rPr lang="de-DE" sz="2400" dirty="0" err="1"/>
              <a:t>Smaller</a:t>
            </a:r>
            <a:r>
              <a:rPr lang="de-DE" sz="2400" dirty="0"/>
              <a:t> Models</a:t>
            </a:r>
          </a:p>
          <a:p>
            <a:pPr lvl="1">
              <a:buFont typeface="Calibri" panose="020F0502020204030204" pitchFamily="34" charset="0"/>
              <a:buChar char="→"/>
            </a:pPr>
            <a:r>
              <a:rPr lang="de-DE" sz="2000" dirty="0"/>
              <a:t>Not </a:t>
            </a:r>
            <a:r>
              <a:rPr lang="de-DE" sz="2000" dirty="0" err="1"/>
              <a:t>Acceptable</a:t>
            </a:r>
            <a:r>
              <a:rPr lang="de-DE" sz="2000" dirty="0"/>
              <a:t> in Many Use Cases</a:t>
            </a:r>
          </a:p>
          <a:p>
            <a:pPr lvl="1"/>
            <a:endParaRPr lang="de-DE" sz="20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48EC-5ED2-460D-A48B-1DCE5B3980D6}"/>
              </a:ext>
            </a:extLst>
          </p:cNvPr>
          <p:cNvSpPr txBox="1">
            <a:spLocks/>
          </p:cNvSpPr>
          <p:nvPr/>
        </p:nvSpPr>
        <p:spPr>
          <a:xfrm>
            <a:off x="6095999" y="1822450"/>
            <a:ext cx="5452533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dirty="0"/>
              <a:t> Mixed-Precision Training</a:t>
            </a:r>
          </a:p>
          <a:p>
            <a:pPr lvl="1">
              <a:buFont typeface="Calibri" panose="020F0502020204030204" pitchFamily="34" charset="0"/>
              <a:buChar char="→"/>
            </a:pPr>
            <a:r>
              <a:rPr lang="de-DE" sz="2000" dirty="0"/>
              <a:t>Very </a:t>
            </a:r>
            <a:r>
              <a:rPr lang="de-DE" sz="2000" dirty="0" err="1"/>
              <a:t>Effective</a:t>
            </a:r>
            <a:r>
              <a:rPr lang="de-DE" sz="2000" dirty="0"/>
              <a:t> </a:t>
            </a:r>
            <a:r>
              <a:rPr lang="de-DE" sz="2000" dirty="0" err="1"/>
              <a:t>Reduction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Precision in </a:t>
            </a:r>
            <a:r>
              <a:rPr lang="de-DE" sz="2000" dirty="0" err="1"/>
              <a:t>Steps</a:t>
            </a:r>
            <a:r>
              <a:rPr lang="de-DE" sz="2000" dirty="0"/>
              <a:t> </a:t>
            </a:r>
            <a:r>
              <a:rPr lang="de-DE" sz="2000" dirty="0" err="1"/>
              <a:t>Where</a:t>
            </a:r>
            <a:r>
              <a:rPr lang="de-DE" sz="2000" dirty="0"/>
              <a:t> Higher Precision </a:t>
            </a:r>
            <a:r>
              <a:rPr lang="de-DE" sz="2000" dirty="0" err="1"/>
              <a:t>is</a:t>
            </a:r>
            <a:r>
              <a:rPr lang="de-DE" sz="2000" dirty="0"/>
              <a:t> not </a:t>
            </a:r>
            <a:r>
              <a:rPr lang="de-DE" sz="2000" dirty="0" err="1"/>
              <a:t>Needed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 err="1"/>
              <a:t>Sparse</a:t>
            </a:r>
            <a:r>
              <a:rPr lang="de-DE" sz="2400" dirty="0"/>
              <a:t> Models</a:t>
            </a:r>
          </a:p>
          <a:p>
            <a:pPr lvl="1">
              <a:buFont typeface="Calibri" panose="020F0502020204030204" pitchFamily="34" charset="0"/>
              <a:buChar char="→"/>
            </a:pPr>
            <a:r>
              <a:rPr lang="de-DE" sz="2000" dirty="0" err="1"/>
              <a:t>Activating</a:t>
            </a:r>
            <a:r>
              <a:rPr lang="de-DE" sz="2000" dirty="0"/>
              <a:t> </a:t>
            </a:r>
            <a:r>
              <a:rPr lang="de-DE" sz="2000" dirty="0" err="1"/>
              <a:t>Only</a:t>
            </a:r>
            <a:r>
              <a:rPr lang="de-DE" sz="2000" dirty="0"/>
              <a:t> </a:t>
            </a:r>
            <a:r>
              <a:rPr lang="de-DE" sz="2000" dirty="0" err="1"/>
              <a:t>Certain</a:t>
            </a:r>
            <a:r>
              <a:rPr lang="de-DE" sz="2000" dirty="0"/>
              <a:t> Areas in a Model </a:t>
            </a:r>
            <a:r>
              <a:rPr lang="de-DE" sz="2000" dirty="0" err="1"/>
              <a:t>Depending</a:t>
            </a:r>
            <a:r>
              <a:rPr lang="de-DE" sz="2000" dirty="0"/>
              <a:t> on </a:t>
            </a:r>
            <a:r>
              <a:rPr lang="de-DE" sz="2000" dirty="0" err="1"/>
              <a:t>the</a:t>
            </a:r>
            <a:r>
              <a:rPr lang="de-DE" sz="2000" dirty="0"/>
              <a:t> Query</a:t>
            </a:r>
          </a:p>
          <a:p>
            <a:endParaRPr lang="de-DE" sz="2400" dirty="0"/>
          </a:p>
          <a:p>
            <a:r>
              <a:rPr lang="de-DE" sz="2400" dirty="0"/>
              <a:t>Hardware </a:t>
            </a:r>
            <a:r>
              <a:rPr lang="de-DE" sz="2400" dirty="0" err="1"/>
              <a:t>Advancements</a:t>
            </a:r>
            <a:r>
              <a:rPr lang="de-DE" sz="2400" dirty="0"/>
              <a:t> like CIM</a:t>
            </a:r>
          </a:p>
          <a:p>
            <a:pPr lvl="1">
              <a:buFont typeface="Calibri" panose="020F0502020204030204" pitchFamily="34" charset="0"/>
              <a:buChar char="→"/>
            </a:pPr>
            <a:r>
              <a:rPr lang="de-DE" sz="2000" dirty="0"/>
              <a:t>RAM </a:t>
            </a:r>
            <a:r>
              <a:rPr lang="de-DE" sz="2000" dirty="0" err="1"/>
              <a:t>That</a:t>
            </a:r>
            <a:r>
              <a:rPr lang="de-DE" sz="2000" dirty="0"/>
              <a:t> Can Perform </a:t>
            </a:r>
            <a:r>
              <a:rPr lang="de-DE" sz="2000" dirty="0" err="1"/>
              <a:t>Certain</a:t>
            </a:r>
            <a:r>
              <a:rPr lang="de-DE" sz="2000" dirty="0"/>
              <a:t> </a:t>
            </a:r>
            <a:r>
              <a:rPr lang="de-DE" sz="2000" b="1" dirty="0" err="1"/>
              <a:t>C</a:t>
            </a:r>
            <a:r>
              <a:rPr lang="de-DE" sz="2000" dirty="0" err="1"/>
              <a:t>omputations</a:t>
            </a:r>
            <a:r>
              <a:rPr lang="de-DE" sz="2000" dirty="0"/>
              <a:t> </a:t>
            </a:r>
            <a:r>
              <a:rPr lang="de-DE" sz="2000" b="1" dirty="0"/>
              <a:t>I</a:t>
            </a:r>
            <a:r>
              <a:rPr lang="de-DE" sz="2000" dirty="0"/>
              <a:t>n-</a:t>
            </a:r>
            <a:r>
              <a:rPr lang="de-DE" sz="2000" b="1" dirty="0"/>
              <a:t>M</a:t>
            </a:r>
            <a:r>
              <a:rPr lang="de-DE" sz="2000" dirty="0"/>
              <a:t>emory </a:t>
            </a:r>
            <a:r>
              <a:rPr lang="de-DE" sz="2000" dirty="0" err="1"/>
              <a:t>Saving</a:t>
            </a:r>
            <a:r>
              <a:rPr lang="de-DE" sz="2000" dirty="0"/>
              <a:t> Expensive Data Transfers</a:t>
            </a:r>
          </a:p>
          <a:p>
            <a:pPr lvl="1"/>
            <a:endParaRPr lang="de-DE" sz="2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EB994-C830-443D-8ABA-CBD341C4E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72E3C0-ED4F-4FEC-B269-67D5E2F4D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19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C305B-13F5-431D-A2EA-2A04E321D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de-DE" sz="3600" b="1" dirty="0" err="1"/>
              <a:t>Methodology</a:t>
            </a:r>
            <a:endParaRPr lang="de-DE" sz="3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05424-38BF-4403-BB0A-4EF9588F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dirty="0"/>
              <a:t>ECC + </a:t>
            </a:r>
            <a:r>
              <a:rPr lang="de-DE" dirty="0" err="1"/>
              <a:t>Quantized</a:t>
            </a:r>
            <a:r>
              <a:rPr lang="de-DE" dirty="0"/>
              <a:t> Models = Lower Operating </a:t>
            </a:r>
            <a:r>
              <a:rPr lang="de-DE" dirty="0" err="1"/>
              <a:t>Voltage</a:t>
            </a:r>
            <a:endParaRPr lang="de-DE" dirty="0"/>
          </a:p>
          <a:p>
            <a:r>
              <a:rPr lang="de-DE" dirty="0"/>
              <a:t>Core </a:t>
            </a:r>
            <a:r>
              <a:rPr lang="de-DE" dirty="0" err="1"/>
              <a:t>Idea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Train CNN </a:t>
            </a:r>
            <a:r>
              <a:rPr lang="de-DE" dirty="0" err="1"/>
              <a:t>With</a:t>
            </a:r>
            <a:r>
              <a:rPr lang="de-DE" dirty="0"/>
              <a:t> 32-Bit </a:t>
            </a:r>
            <a:r>
              <a:rPr lang="de-DE" dirty="0" err="1"/>
              <a:t>Weight</a:t>
            </a:r>
            <a:endParaRPr lang="de-DE" dirty="0"/>
          </a:p>
          <a:p>
            <a:pPr lvl="2"/>
            <a:r>
              <a:rPr lang="de-DE" dirty="0" err="1"/>
              <a:t>Quantize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4-Bit, 8-Bit &amp; 16-Bit</a:t>
            </a:r>
          </a:p>
          <a:p>
            <a:endParaRPr lang="de-DE" dirty="0"/>
          </a:p>
          <a:p>
            <a:pPr lvl="1"/>
            <a:r>
              <a:rPr lang="de-DE" sz="2000" dirty="0" err="1"/>
              <a:t>Apply</a:t>
            </a:r>
            <a:r>
              <a:rPr lang="de-DE" sz="2000" dirty="0"/>
              <a:t> Error </a:t>
            </a:r>
            <a:r>
              <a:rPr lang="de-DE" sz="2000" dirty="0" err="1"/>
              <a:t>Correcting</a:t>
            </a:r>
            <a:r>
              <a:rPr lang="de-DE" sz="2000" dirty="0"/>
              <a:t> Code (ECC) </a:t>
            </a:r>
            <a:r>
              <a:rPr lang="de-DE" sz="2000" dirty="0" err="1"/>
              <a:t>to</a:t>
            </a:r>
            <a:r>
              <a:rPr lang="de-DE" sz="2000" dirty="0"/>
              <a:t> SRAM </a:t>
            </a:r>
            <a:r>
              <a:rPr lang="de-DE" sz="2000" dirty="0" err="1"/>
              <a:t>with</a:t>
            </a:r>
            <a:r>
              <a:rPr lang="de-DE" sz="2000" dirty="0"/>
              <a:t> Low Operating </a:t>
            </a:r>
            <a:r>
              <a:rPr lang="de-DE" sz="2000" dirty="0" err="1"/>
              <a:t>Voltage</a:t>
            </a:r>
            <a:endParaRPr lang="de-DE" sz="2000" dirty="0"/>
          </a:p>
          <a:p>
            <a:pPr lvl="1"/>
            <a:endParaRPr lang="de-DE" sz="2000" dirty="0"/>
          </a:p>
          <a:p>
            <a:pPr lvl="1"/>
            <a:r>
              <a:rPr lang="de-DE" sz="2000" dirty="0"/>
              <a:t>Low Operating </a:t>
            </a:r>
            <a:r>
              <a:rPr lang="de-DE" sz="2000" dirty="0" err="1"/>
              <a:t>Voltage</a:t>
            </a:r>
            <a:r>
              <a:rPr lang="de-DE" sz="2000" dirty="0"/>
              <a:t> = Higher Bit Error Rate</a:t>
            </a:r>
          </a:p>
          <a:p>
            <a:pPr lvl="1"/>
            <a:endParaRPr lang="de-DE" sz="2000" dirty="0"/>
          </a:p>
          <a:p>
            <a:pPr lvl="1"/>
            <a:r>
              <a:rPr lang="de-DE" sz="2000" dirty="0"/>
              <a:t>Use ECC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Correct</a:t>
            </a:r>
            <a:r>
              <a:rPr lang="de-DE" sz="2000" dirty="0"/>
              <a:t> </a:t>
            </a:r>
            <a:r>
              <a:rPr lang="de-DE" sz="2000" dirty="0" err="1"/>
              <a:t>up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1 Bit Error in Every Model </a:t>
            </a:r>
            <a:r>
              <a:rPr lang="de-DE" sz="2000" dirty="0" err="1"/>
              <a:t>Weight</a:t>
            </a:r>
            <a:endParaRPr lang="de-DE" sz="2000" dirty="0"/>
          </a:p>
          <a:p>
            <a:pPr lvl="1"/>
            <a:endParaRPr lang="de-DE" sz="2000" dirty="0"/>
          </a:p>
          <a:p>
            <a:r>
              <a:rPr lang="de-DE" dirty="0" err="1"/>
              <a:t>Two</a:t>
            </a:r>
            <a:r>
              <a:rPr lang="de-DE" dirty="0"/>
              <a:t> Methods:</a:t>
            </a:r>
          </a:p>
          <a:p>
            <a:pPr lvl="1"/>
            <a:r>
              <a:rPr lang="de-DE" sz="2000" dirty="0"/>
              <a:t>Split Bit Ranges in a Word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protected</a:t>
            </a:r>
            <a:r>
              <a:rPr lang="de-DE" sz="2000" dirty="0"/>
              <a:t> (BER = 10</a:t>
            </a:r>
            <a:r>
              <a:rPr lang="de-DE" sz="2000" baseline="30000" dirty="0"/>
              <a:t>-4</a:t>
            </a:r>
            <a:r>
              <a:rPr lang="de-DE" sz="2000" dirty="0"/>
              <a:t>) and </a:t>
            </a:r>
            <a:r>
              <a:rPr lang="de-DE" sz="2000" dirty="0" err="1"/>
              <a:t>unprotected</a:t>
            </a:r>
            <a:r>
              <a:rPr lang="de-DE" sz="2000" dirty="0"/>
              <a:t> (variable BER)</a:t>
            </a:r>
          </a:p>
          <a:p>
            <a:pPr lvl="1"/>
            <a:endParaRPr lang="de-DE" sz="2000" baseline="30000" dirty="0"/>
          </a:p>
          <a:p>
            <a:pPr lvl="1"/>
            <a:r>
              <a:rPr lang="de-DE" sz="2000" dirty="0"/>
              <a:t>Same BER </a:t>
            </a:r>
            <a:r>
              <a:rPr lang="de-DE" sz="2000" dirty="0" err="1"/>
              <a:t>throughout</a:t>
            </a:r>
            <a:r>
              <a:rPr lang="de-DE" sz="2000" dirty="0"/>
              <a:t>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entire</a:t>
            </a:r>
            <a:r>
              <a:rPr lang="de-DE" sz="2000" dirty="0"/>
              <a:t> Word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54107-7998-4192-84ED-00577B1F1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6457EA-8A7B-448C-8F4C-AAD6149C6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6095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78C5D-47E5-4035-895E-9A62B8CB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4361"/>
            <a:ext cx="10515600" cy="1325563"/>
          </a:xfrm>
        </p:spPr>
        <p:txBody>
          <a:bodyPr/>
          <a:lstStyle/>
          <a:p>
            <a:pPr algn="ctr"/>
            <a:r>
              <a:rPr lang="de-DE" b="1" dirty="0" err="1"/>
              <a:t>Methodology</a:t>
            </a:r>
            <a:r>
              <a:rPr lang="de-DE" b="1" dirty="0"/>
              <a:t>: </a:t>
            </a:r>
            <a:r>
              <a:rPr lang="de-DE" dirty="0"/>
              <a:t>CNN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8BC1B-8A96-4EE2-98AA-3E0EBA282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Trained on MNIST dataset </a:t>
            </a:r>
          </a:p>
          <a:p>
            <a:endParaRPr lang="en-US" dirty="0"/>
          </a:p>
          <a:p>
            <a:r>
              <a:rPr lang="en-US" dirty="0"/>
              <a:t>number of steps: 2000</a:t>
            </a:r>
          </a:p>
          <a:p>
            <a:endParaRPr lang="en-US" dirty="0"/>
          </a:p>
          <a:p>
            <a:r>
              <a:rPr lang="en-US" dirty="0"/>
              <a:t>batch size: 500</a:t>
            </a:r>
          </a:p>
          <a:p>
            <a:endParaRPr lang="en-US" dirty="0"/>
          </a:p>
          <a:p>
            <a:r>
              <a:rPr lang="en-US" dirty="0"/>
              <a:t>Originally 32-bit weights</a:t>
            </a:r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A3C175-4169-43DF-929A-02C168554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53105-BC00-4FF4-A40D-5156A5F8E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5</a:t>
            </a:fld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E707191-D0E3-47D6-B030-6544998A247B}"/>
              </a:ext>
            </a:extLst>
          </p:cNvPr>
          <p:cNvSpPr/>
          <p:nvPr/>
        </p:nvSpPr>
        <p:spPr>
          <a:xfrm>
            <a:off x="8932717" y="248660"/>
            <a:ext cx="1458190" cy="43237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Conv</a:t>
            </a:r>
            <a:endParaRPr lang="de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A50B14-AE92-45CC-A0F0-BBEE8612772B}"/>
              </a:ext>
            </a:extLst>
          </p:cNvPr>
          <p:cNvSpPr/>
          <p:nvPr/>
        </p:nvSpPr>
        <p:spPr>
          <a:xfrm>
            <a:off x="9328728" y="912739"/>
            <a:ext cx="678869" cy="43237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ReLU</a:t>
            </a:r>
            <a:endParaRPr lang="de-DE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505E928-26C0-432C-9DEB-1EC46B03EAD2}"/>
              </a:ext>
            </a:extLst>
          </p:cNvPr>
          <p:cNvSpPr/>
          <p:nvPr/>
        </p:nvSpPr>
        <p:spPr>
          <a:xfrm>
            <a:off x="8932714" y="1582667"/>
            <a:ext cx="1458193" cy="671512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MaxPool</a:t>
            </a:r>
            <a:endParaRPr lang="de-DE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DE0530B-4D91-41A5-8E3E-4E1020206F18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9661812" y="681037"/>
            <a:ext cx="6351" cy="2317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276A22-A4D9-41ED-8BF9-AFCA0738FBFB}"/>
              </a:ext>
            </a:extLst>
          </p:cNvPr>
          <p:cNvCxnSpPr/>
          <p:nvPr/>
        </p:nvCxnSpPr>
        <p:spPr>
          <a:xfrm flipH="1">
            <a:off x="9657768" y="1348041"/>
            <a:ext cx="1" cy="24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CF2A7BD-18EE-45AA-AE41-DB2D27C72C87}"/>
              </a:ext>
            </a:extLst>
          </p:cNvPr>
          <p:cNvSpPr/>
          <p:nvPr/>
        </p:nvSpPr>
        <p:spPr>
          <a:xfrm>
            <a:off x="8928673" y="2475853"/>
            <a:ext cx="1458190" cy="43237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Conv</a:t>
            </a:r>
            <a:endParaRPr lang="de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887DF6-6667-409F-83E7-32C54D2791B6}"/>
              </a:ext>
            </a:extLst>
          </p:cNvPr>
          <p:cNvSpPr/>
          <p:nvPr/>
        </p:nvSpPr>
        <p:spPr>
          <a:xfrm>
            <a:off x="9331031" y="3155809"/>
            <a:ext cx="662709" cy="43237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ReLU</a:t>
            </a:r>
            <a:endParaRPr lang="de-DE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0A1D614-646F-4373-8938-638EA8CAD912}"/>
              </a:ext>
            </a:extLst>
          </p:cNvPr>
          <p:cNvSpPr/>
          <p:nvPr/>
        </p:nvSpPr>
        <p:spPr>
          <a:xfrm>
            <a:off x="8928670" y="3809860"/>
            <a:ext cx="1458193" cy="671512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MaxPool</a:t>
            </a:r>
            <a:endParaRPr lang="de-DE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75F7ABB-14BF-439B-8220-7EE0DD698EE8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9657768" y="2908230"/>
            <a:ext cx="4618" cy="24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61A1EF-124D-45FA-9543-9B0FAE5643F5}"/>
              </a:ext>
            </a:extLst>
          </p:cNvPr>
          <p:cNvCxnSpPr/>
          <p:nvPr/>
        </p:nvCxnSpPr>
        <p:spPr>
          <a:xfrm flipH="1">
            <a:off x="9653724" y="3575234"/>
            <a:ext cx="1" cy="24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2094BE3-B3E3-494C-B692-B10F0E5B948E}"/>
              </a:ext>
            </a:extLst>
          </p:cNvPr>
          <p:cNvCxnSpPr/>
          <p:nvPr/>
        </p:nvCxnSpPr>
        <p:spPr>
          <a:xfrm flipH="1">
            <a:off x="9661810" y="2228274"/>
            <a:ext cx="1" cy="24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9BCD05B-3C38-4165-AE63-485240A53535}"/>
              </a:ext>
            </a:extLst>
          </p:cNvPr>
          <p:cNvSpPr/>
          <p:nvPr/>
        </p:nvSpPr>
        <p:spPr>
          <a:xfrm>
            <a:off x="8932715" y="4703046"/>
            <a:ext cx="1458190" cy="43237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Conv</a:t>
            </a:r>
            <a:endParaRPr lang="de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0F64B01-E3F8-419D-B009-6841D178C973}"/>
              </a:ext>
            </a:extLst>
          </p:cNvPr>
          <p:cNvSpPr/>
          <p:nvPr/>
        </p:nvSpPr>
        <p:spPr>
          <a:xfrm>
            <a:off x="9328727" y="5383002"/>
            <a:ext cx="665013" cy="43237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ReLU</a:t>
            </a:r>
            <a:endParaRPr lang="de-DE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C045DAE-60C3-4F1E-A348-CCEB6310D343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flipH="1">
            <a:off x="9661234" y="5135423"/>
            <a:ext cx="576" cy="24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AA95CC-943A-42F6-8C8E-9AFE038AB6A8}"/>
              </a:ext>
            </a:extLst>
          </p:cNvPr>
          <p:cNvCxnSpPr/>
          <p:nvPr/>
        </p:nvCxnSpPr>
        <p:spPr>
          <a:xfrm flipH="1">
            <a:off x="9665852" y="4455467"/>
            <a:ext cx="1" cy="247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62BF9B8-74F2-4E49-8D2D-A643380601D3}"/>
              </a:ext>
            </a:extLst>
          </p:cNvPr>
          <p:cNvSpPr/>
          <p:nvPr/>
        </p:nvSpPr>
        <p:spPr>
          <a:xfrm>
            <a:off x="7578150" y="5317475"/>
            <a:ext cx="1182255" cy="5875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FC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5E55CDA-6BF2-4FE9-A2FC-1336E357B6FF}"/>
              </a:ext>
            </a:extLst>
          </p:cNvPr>
          <p:cNvCxnSpPr>
            <a:stCxn id="21" idx="1"/>
            <a:endCxn id="32" idx="3"/>
          </p:cNvCxnSpPr>
          <p:nvPr/>
        </p:nvCxnSpPr>
        <p:spPr>
          <a:xfrm flipH="1">
            <a:off x="8760405" y="5599191"/>
            <a:ext cx="568322" cy="12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832E235-36DB-449B-B02D-6D72138BFF55}"/>
              </a:ext>
            </a:extLst>
          </p:cNvPr>
          <p:cNvSpPr/>
          <p:nvPr/>
        </p:nvSpPr>
        <p:spPr>
          <a:xfrm>
            <a:off x="7580316" y="3867870"/>
            <a:ext cx="1182255" cy="5875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FC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2C579C-1392-444E-9D74-2BDF294FC50C}"/>
              </a:ext>
            </a:extLst>
          </p:cNvPr>
          <p:cNvSpPr/>
          <p:nvPr/>
        </p:nvSpPr>
        <p:spPr>
          <a:xfrm>
            <a:off x="7835759" y="4705144"/>
            <a:ext cx="665013" cy="43237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ReLU</a:t>
            </a:r>
            <a:endParaRPr lang="de-DE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0749519-0DD1-4F8D-A84E-7E04A9066505}"/>
              </a:ext>
            </a:extLst>
          </p:cNvPr>
          <p:cNvCxnSpPr>
            <a:stCxn id="32" idx="0"/>
            <a:endCxn id="36" idx="2"/>
          </p:cNvCxnSpPr>
          <p:nvPr/>
        </p:nvCxnSpPr>
        <p:spPr>
          <a:xfrm flipH="1" flipV="1">
            <a:off x="8168266" y="5137521"/>
            <a:ext cx="1012" cy="179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E241AEA-8604-43F4-BB8B-67972EAACB29}"/>
              </a:ext>
            </a:extLst>
          </p:cNvPr>
          <p:cNvCxnSpPr>
            <a:stCxn id="36" idx="0"/>
            <a:endCxn id="35" idx="2"/>
          </p:cNvCxnSpPr>
          <p:nvPr/>
        </p:nvCxnSpPr>
        <p:spPr>
          <a:xfrm flipV="1">
            <a:off x="8168266" y="4455467"/>
            <a:ext cx="3178" cy="249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D9B586A2-B139-471E-B62F-E2385150685F}"/>
              </a:ext>
            </a:extLst>
          </p:cNvPr>
          <p:cNvSpPr/>
          <p:nvPr/>
        </p:nvSpPr>
        <p:spPr>
          <a:xfrm>
            <a:off x="7486222" y="3030596"/>
            <a:ext cx="1364086" cy="587597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/>
              <a:t>SoftMax</a:t>
            </a:r>
            <a:endParaRPr lang="de-DE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7D89ED0-7E16-4838-B9A8-A64092A51FA8}"/>
              </a:ext>
            </a:extLst>
          </p:cNvPr>
          <p:cNvCxnSpPr>
            <a:stCxn id="35" idx="0"/>
            <a:endCxn id="41" idx="4"/>
          </p:cNvCxnSpPr>
          <p:nvPr/>
        </p:nvCxnSpPr>
        <p:spPr>
          <a:xfrm flipH="1" flipV="1">
            <a:off x="8168265" y="3618193"/>
            <a:ext cx="3179" cy="249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0D0145E-4D0C-4661-81D1-5FEB7035400D}"/>
              </a:ext>
            </a:extLst>
          </p:cNvPr>
          <p:cNvSpPr/>
          <p:nvPr/>
        </p:nvSpPr>
        <p:spPr>
          <a:xfrm>
            <a:off x="10677236" y="248660"/>
            <a:ext cx="1405659" cy="43237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Input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7B3131C-184F-43D1-8AA3-D3F536458314}"/>
              </a:ext>
            </a:extLst>
          </p:cNvPr>
          <p:cNvCxnSpPr>
            <a:stCxn id="41" idx="0"/>
          </p:cNvCxnSpPr>
          <p:nvPr/>
        </p:nvCxnSpPr>
        <p:spPr>
          <a:xfrm flipV="1">
            <a:off x="8168265" y="2669309"/>
            <a:ext cx="0" cy="361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9FF480D-2822-4E90-8CD5-6E2521D9E60F}"/>
              </a:ext>
            </a:extLst>
          </p:cNvPr>
          <p:cNvCxnSpPr>
            <a:stCxn id="44" idx="1"/>
            <a:endCxn id="6" idx="3"/>
          </p:cNvCxnSpPr>
          <p:nvPr/>
        </p:nvCxnSpPr>
        <p:spPr>
          <a:xfrm flipH="1">
            <a:off x="10390907" y="464849"/>
            <a:ext cx="2863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7AC6E6E1-62E8-41A8-8D65-A53DE724863B}"/>
              </a:ext>
            </a:extLst>
          </p:cNvPr>
          <p:cNvSpPr/>
          <p:nvPr/>
        </p:nvSpPr>
        <p:spPr>
          <a:xfrm>
            <a:off x="7470345" y="2239709"/>
            <a:ext cx="1405659" cy="432377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88244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BF6E9-6CE2-488D-BC47-F9DE5CD05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Methodology</a:t>
            </a:r>
            <a:r>
              <a:rPr lang="de-DE" b="1" dirty="0"/>
              <a:t>: </a:t>
            </a:r>
            <a:r>
              <a:rPr lang="de-DE" dirty="0" err="1"/>
              <a:t>Quantization</a:t>
            </a:r>
            <a:endParaRPr lang="de-DE" b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6310745-A26B-4371-AFFE-21A0A3F014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5794" y="4837160"/>
            <a:ext cx="3719096" cy="981749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B6A416-73DD-427B-BC67-2B9FA1BDE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CAA5BB-42DB-4E25-A11F-45F809886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6</a:t>
            </a:fld>
            <a:endParaRPr lang="de-D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D0C136-ABCA-4B66-868F-88A748167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594" y="1690688"/>
            <a:ext cx="4710206" cy="4098491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764A9C3-24B6-4601-BB4D-7E07AC4B27E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3 </a:t>
            </a:r>
            <a:r>
              <a:rPr lang="de-DE" dirty="0" err="1"/>
              <a:t>Quantizations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16-Bit</a:t>
            </a:r>
          </a:p>
          <a:p>
            <a:pPr lvl="1"/>
            <a:endParaRPr lang="de-DE" dirty="0"/>
          </a:p>
          <a:p>
            <a:pPr lvl="1"/>
            <a:r>
              <a:rPr lang="de-DE" dirty="0"/>
              <a:t>8-Bit</a:t>
            </a:r>
          </a:p>
          <a:p>
            <a:pPr lvl="1"/>
            <a:endParaRPr lang="de-DE" dirty="0"/>
          </a:p>
          <a:p>
            <a:pPr lvl="1"/>
            <a:r>
              <a:rPr lang="de-DE" dirty="0"/>
              <a:t>4-Bit</a:t>
            </a:r>
          </a:p>
          <a:p>
            <a:endParaRPr lang="de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2A7046-18AF-4498-8A6F-FCAFDD89B718}"/>
              </a:ext>
            </a:extLst>
          </p:cNvPr>
          <p:cNvSpPr txBox="1"/>
          <p:nvPr/>
        </p:nvSpPr>
        <p:spPr>
          <a:xfrm>
            <a:off x="6643593" y="5789179"/>
            <a:ext cx="548375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 err="1"/>
              <a:t>Edited</a:t>
            </a:r>
            <a:r>
              <a:rPr lang="de-DE" sz="1050" dirty="0"/>
              <a:t> Image </a:t>
            </a:r>
            <a:r>
              <a:rPr lang="de-DE" sz="1050" dirty="0" err="1"/>
              <a:t>from</a:t>
            </a:r>
            <a:r>
              <a:rPr lang="de-DE" sz="1050" dirty="0"/>
              <a:t> </a:t>
            </a:r>
            <a:r>
              <a:rPr lang="en-US" sz="1050" dirty="0"/>
              <a:t>J. Wu and K. </a:t>
            </a:r>
            <a:r>
              <a:rPr lang="en-US" sz="1050" dirty="0" err="1"/>
              <a:t>Namba</a:t>
            </a:r>
            <a:r>
              <a:rPr lang="en-US" sz="1050" dirty="0"/>
              <a:t>, “</a:t>
            </a:r>
            <a:r>
              <a:rPr lang="en-US" sz="1050" dirty="0" err="1"/>
              <a:t>Sram</a:t>
            </a:r>
            <a:r>
              <a:rPr lang="en-US" sz="1050" dirty="0"/>
              <a:t>-based efficiency memory model for quantized convolutional neural networks,” in 2023 International Conference on Consumer Electronics - Taiwan (ICCE-Taiwan), 2023, pp. 499–500.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660972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2D7D8-5520-4EDF-9556-D0C37A702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4-bit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Set </a:t>
            </a:r>
            <a:r>
              <a:rPr lang="de-DE" dirty="0" err="1"/>
              <a:t>parity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1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odd</a:t>
            </a:r>
            <a:r>
              <a:rPr lang="de-DE" dirty="0"/>
              <a:t>:</a:t>
            </a:r>
          </a:p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P1  1  1  0 =&gt; P1 = 0</a:t>
            </a:r>
          </a:p>
          <a:p>
            <a:r>
              <a:rPr lang="de-DE" dirty="0">
                <a:solidFill>
                  <a:srgbClr val="FF0000"/>
                </a:solidFill>
              </a:rPr>
              <a:t>P2  1  0  0 =&gt; P2 = 1</a:t>
            </a:r>
          </a:p>
          <a:p>
            <a:r>
              <a:rPr lang="de-DE" dirty="0">
                <a:solidFill>
                  <a:schemeClr val="accent4">
                    <a:lumMod val="75000"/>
                  </a:schemeClr>
                </a:solidFill>
              </a:rPr>
              <a:t>P4  1  0  0 =&gt; P4 = 1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881AD3F4-65DC-45DD-B8D8-AE41FD5F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281299"/>
              </p:ext>
            </p:extLst>
          </p:nvPr>
        </p:nvGraphicFramePr>
        <p:xfrm>
          <a:off x="838200" y="2247005"/>
          <a:ext cx="10515603" cy="1097280"/>
        </p:xfrm>
        <a:graphic>
          <a:graphicData uri="http://schemas.openxmlformats.org/drawingml/2006/table">
            <a:tbl>
              <a:tblPr/>
              <a:tblGrid>
                <a:gridCol w="1502229">
                  <a:extLst>
                    <a:ext uri="{9D8B030D-6E8A-4147-A177-3AD203B41FA5}">
                      <a16:colId xmlns:a16="http://schemas.microsoft.com/office/drawing/2014/main" val="103905033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683050842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43927884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9013857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72343995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94191845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5092912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739526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Parity 1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Parity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1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Parity 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4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48184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4730719"/>
                  </a:ext>
                </a:extLst>
              </a:tr>
            </a:tbl>
          </a:graphicData>
        </a:graphic>
      </p:graphicFrame>
      <p:sp>
        <p:nvSpPr>
          <p:cNvPr id="27" name="Oval 26">
            <a:extLst>
              <a:ext uri="{FF2B5EF4-FFF2-40B4-BE49-F238E27FC236}">
                <a16:creationId xmlns:a16="http://schemas.microsoft.com/office/drawing/2014/main" id="{274EE2DD-64A4-4B6C-B13A-EE02643B8F81}"/>
              </a:ext>
            </a:extLst>
          </p:cNvPr>
          <p:cNvSpPr/>
          <p:nvPr/>
        </p:nvSpPr>
        <p:spPr>
          <a:xfrm>
            <a:off x="1049864" y="2551852"/>
            <a:ext cx="1049868" cy="78904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ACB20A0-D787-4F61-83A5-C5CC35592DF5}"/>
              </a:ext>
            </a:extLst>
          </p:cNvPr>
          <p:cNvSpPr/>
          <p:nvPr/>
        </p:nvSpPr>
        <p:spPr>
          <a:xfrm>
            <a:off x="4047065" y="2521320"/>
            <a:ext cx="1049868" cy="721413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86062E5-2624-467B-A1CE-11F8FBE8703E}"/>
              </a:ext>
            </a:extLst>
          </p:cNvPr>
          <p:cNvSpPr/>
          <p:nvPr/>
        </p:nvSpPr>
        <p:spPr>
          <a:xfrm>
            <a:off x="7044266" y="2551853"/>
            <a:ext cx="1049868" cy="78904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EEC2EB62-FF36-45C6-A6B0-FF8B057B1777}"/>
              </a:ext>
            </a:extLst>
          </p:cNvPr>
          <p:cNvSpPr/>
          <p:nvPr/>
        </p:nvSpPr>
        <p:spPr>
          <a:xfrm>
            <a:off x="10041467" y="2521320"/>
            <a:ext cx="1049868" cy="893871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40A0E82-82F2-42FA-BC31-4ACFA290511E}"/>
              </a:ext>
            </a:extLst>
          </p:cNvPr>
          <p:cNvSpPr/>
          <p:nvPr/>
        </p:nvSpPr>
        <p:spPr>
          <a:xfrm>
            <a:off x="2582333" y="2447027"/>
            <a:ext cx="2413000" cy="89387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33A6A93-DAFF-48DB-B040-D0DD4E3BE5E2}"/>
              </a:ext>
            </a:extLst>
          </p:cNvPr>
          <p:cNvSpPr/>
          <p:nvPr/>
        </p:nvSpPr>
        <p:spPr>
          <a:xfrm>
            <a:off x="8678335" y="2521320"/>
            <a:ext cx="2413000" cy="9214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E65241B-2BFB-429B-B65F-B047274DD7F6}"/>
              </a:ext>
            </a:extLst>
          </p:cNvPr>
          <p:cNvSpPr/>
          <p:nvPr/>
        </p:nvSpPr>
        <p:spPr>
          <a:xfrm>
            <a:off x="5189643" y="2521320"/>
            <a:ext cx="6342379" cy="893871"/>
          </a:xfrm>
          <a:prstGeom prst="ellipse">
            <a:avLst/>
          </a:prstGeom>
          <a:noFill/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3A9A5C-9BDE-4763-ADEE-F0F3647A8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1B5152-4AF6-4C9F-8CA8-EB76EF305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7</a:t>
            </a:fld>
            <a:endParaRPr lang="de-D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B8A49CC-159E-4679-A38A-EE6A54399CCE}"/>
              </a:ext>
            </a:extLst>
          </p:cNvPr>
          <p:cNvSpPr txBox="1">
            <a:spLocks/>
          </p:cNvSpPr>
          <p:nvPr/>
        </p:nvSpPr>
        <p:spPr>
          <a:xfrm>
            <a:off x="312420" y="365125"/>
            <a:ext cx="115671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b="1" dirty="0" err="1"/>
              <a:t>Methodology</a:t>
            </a:r>
            <a:r>
              <a:rPr lang="de-DE" b="1" dirty="0"/>
              <a:t>:</a:t>
            </a:r>
            <a:r>
              <a:rPr lang="de-DE" dirty="0"/>
              <a:t> ECC – Hamming Code </a:t>
            </a:r>
            <a:r>
              <a:rPr lang="de-DE" dirty="0" err="1"/>
              <a:t>Correction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9172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7AB81-F4BE-4505-876F-6B13D870A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365125"/>
            <a:ext cx="11567160" cy="1325563"/>
          </a:xfrm>
        </p:spPr>
        <p:txBody>
          <a:bodyPr/>
          <a:lstStyle/>
          <a:p>
            <a:pPr algn="ctr"/>
            <a:r>
              <a:rPr lang="de-DE" b="1" dirty="0" err="1"/>
              <a:t>Methodology</a:t>
            </a:r>
            <a:r>
              <a:rPr lang="de-DE" b="1" dirty="0"/>
              <a:t>:</a:t>
            </a:r>
            <a:r>
              <a:rPr lang="de-DE" dirty="0"/>
              <a:t> ECC – Hamming Code </a:t>
            </a:r>
            <a:r>
              <a:rPr lang="de-DE" dirty="0" err="1"/>
              <a:t>Correction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2D7D8-5520-4EDF-9556-D0C37A702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4-bit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Check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even</a:t>
            </a:r>
            <a:r>
              <a:rPr lang="de-DE" dirty="0"/>
              <a:t>:</a:t>
            </a:r>
          </a:p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P1: 0  1  1  0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is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even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=&gt; OK</a:t>
            </a:r>
          </a:p>
          <a:p>
            <a:r>
              <a:rPr lang="de-DE" dirty="0">
                <a:solidFill>
                  <a:srgbClr val="FF0000"/>
                </a:solidFill>
              </a:rPr>
              <a:t>P2: 1  1  1  0 </a:t>
            </a:r>
            <a:r>
              <a:rPr lang="de-DE" dirty="0" err="1">
                <a:solidFill>
                  <a:srgbClr val="FF0000"/>
                </a:solidFill>
              </a:rPr>
              <a:t>is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odd</a:t>
            </a:r>
            <a:r>
              <a:rPr lang="de-DE" dirty="0">
                <a:solidFill>
                  <a:srgbClr val="FF0000"/>
                </a:solidFill>
              </a:rPr>
              <a:t> =&gt; Error!</a:t>
            </a:r>
          </a:p>
          <a:p>
            <a:r>
              <a:rPr lang="de-DE" dirty="0">
                <a:solidFill>
                  <a:schemeClr val="accent4">
                    <a:lumMod val="75000"/>
                  </a:schemeClr>
                </a:solidFill>
              </a:rPr>
              <a:t>P4: 1  1  1  0 </a:t>
            </a:r>
            <a:r>
              <a:rPr lang="de-DE" dirty="0" err="1">
                <a:solidFill>
                  <a:schemeClr val="accent4">
                    <a:lumMod val="75000"/>
                  </a:schemeClr>
                </a:solidFill>
              </a:rPr>
              <a:t>is</a:t>
            </a:r>
            <a:r>
              <a:rPr lang="de-DE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4">
                    <a:lumMod val="75000"/>
                  </a:schemeClr>
                </a:solidFill>
              </a:rPr>
              <a:t>odd</a:t>
            </a:r>
            <a:r>
              <a:rPr lang="de-DE" dirty="0">
                <a:solidFill>
                  <a:schemeClr val="accent4">
                    <a:lumMod val="75000"/>
                  </a:schemeClr>
                </a:solidFill>
              </a:rPr>
              <a:t> =&gt; Error! Position </a:t>
            </a:r>
            <a:r>
              <a:rPr lang="de-DE" dirty="0" err="1">
                <a:solidFill>
                  <a:schemeClr val="accent4">
                    <a:lumMod val="75000"/>
                  </a:schemeClr>
                </a:solidFill>
              </a:rPr>
              <a:t>found</a:t>
            </a:r>
            <a:r>
              <a:rPr lang="de-DE" dirty="0">
                <a:solidFill>
                  <a:schemeClr val="accent4">
                    <a:lumMod val="75000"/>
                  </a:schemeClr>
                </a:solidFill>
              </a:rPr>
              <a:t>! Position = 2 + 4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5216382-7CA7-418A-A710-D594037C5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053523"/>
              </p:ext>
            </p:extLst>
          </p:nvPr>
        </p:nvGraphicFramePr>
        <p:xfrm>
          <a:off x="838200" y="2243616"/>
          <a:ext cx="10515603" cy="1097280"/>
        </p:xfrm>
        <a:graphic>
          <a:graphicData uri="http://schemas.openxmlformats.org/drawingml/2006/table">
            <a:tbl>
              <a:tblPr/>
              <a:tblGrid>
                <a:gridCol w="1502229">
                  <a:extLst>
                    <a:ext uri="{9D8B030D-6E8A-4147-A177-3AD203B41FA5}">
                      <a16:colId xmlns:a16="http://schemas.microsoft.com/office/drawing/2014/main" val="103905033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683050842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43927884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9013857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72343995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94191845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5092912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739526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Parity 1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Parity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1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Parity 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Data 4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48184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>
                          <a:effectLst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0FF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4730719"/>
                  </a:ext>
                </a:extLst>
              </a:tr>
            </a:tbl>
          </a:graphicData>
        </a:graphic>
      </p:graphicFrame>
      <p:sp>
        <p:nvSpPr>
          <p:cNvPr id="8" name="Oval 7">
            <a:extLst>
              <a:ext uri="{FF2B5EF4-FFF2-40B4-BE49-F238E27FC236}">
                <a16:creationId xmlns:a16="http://schemas.microsoft.com/office/drawing/2014/main" id="{46F09ADC-6736-41AE-82C1-F0F6B291D1F4}"/>
              </a:ext>
            </a:extLst>
          </p:cNvPr>
          <p:cNvSpPr/>
          <p:nvPr/>
        </p:nvSpPr>
        <p:spPr>
          <a:xfrm>
            <a:off x="1049864" y="2551852"/>
            <a:ext cx="1049868" cy="78904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B3041B-A449-4E5E-905F-228C761228F0}"/>
              </a:ext>
            </a:extLst>
          </p:cNvPr>
          <p:cNvSpPr/>
          <p:nvPr/>
        </p:nvSpPr>
        <p:spPr>
          <a:xfrm>
            <a:off x="4047065" y="2521320"/>
            <a:ext cx="1049868" cy="721413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5134AE-FE9D-4300-ACE8-8C4321691841}"/>
              </a:ext>
            </a:extLst>
          </p:cNvPr>
          <p:cNvSpPr/>
          <p:nvPr/>
        </p:nvSpPr>
        <p:spPr>
          <a:xfrm>
            <a:off x="7044266" y="2551853"/>
            <a:ext cx="1049868" cy="789044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EAA941-A412-4135-99AA-C5BC34749BDD}"/>
              </a:ext>
            </a:extLst>
          </p:cNvPr>
          <p:cNvSpPr/>
          <p:nvPr/>
        </p:nvSpPr>
        <p:spPr>
          <a:xfrm>
            <a:off x="10041467" y="2521320"/>
            <a:ext cx="1049868" cy="893871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587BEF-BD8C-41BB-BEDE-46CE0C98899B}"/>
              </a:ext>
            </a:extLst>
          </p:cNvPr>
          <p:cNvSpPr/>
          <p:nvPr/>
        </p:nvSpPr>
        <p:spPr>
          <a:xfrm>
            <a:off x="2582333" y="2447027"/>
            <a:ext cx="2413000" cy="89387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389F5A1-F78B-4661-8F27-1BA37F8B08BD}"/>
              </a:ext>
            </a:extLst>
          </p:cNvPr>
          <p:cNvSpPr/>
          <p:nvPr/>
        </p:nvSpPr>
        <p:spPr>
          <a:xfrm>
            <a:off x="8678335" y="2521320"/>
            <a:ext cx="2413000" cy="9214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AD86B2D-051C-424C-BAA0-A79DDEEDEA93}"/>
              </a:ext>
            </a:extLst>
          </p:cNvPr>
          <p:cNvSpPr/>
          <p:nvPr/>
        </p:nvSpPr>
        <p:spPr>
          <a:xfrm>
            <a:off x="5189643" y="2521320"/>
            <a:ext cx="6342379" cy="893871"/>
          </a:xfrm>
          <a:prstGeom prst="ellipse">
            <a:avLst/>
          </a:prstGeom>
          <a:noFill/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54A5E81-5CB8-467B-97D0-A1A30CDA3817}"/>
              </a:ext>
            </a:extLst>
          </p:cNvPr>
          <p:cNvCxnSpPr/>
          <p:nvPr/>
        </p:nvCxnSpPr>
        <p:spPr>
          <a:xfrm flipH="1">
            <a:off x="9211733" y="1825625"/>
            <a:ext cx="1092200" cy="11715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B127AD7-2CDA-4637-9ED5-87E8F8DF2FAD}"/>
              </a:ext>
            </a:extLst>
          </p:cNvPr>
          <p:cNvSpPr txBox="1"/>
          <p:nvPr/>
        </p:nvSpPr>
        <p:spPr>
          <a:xfrm>
            <a:off x="10303933" y="1563066"/>
            <a:ext cx="1430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Error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1105E-1AE6-471F-9FBF-B44772A19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785D078-5F33-4F09-B5D3-49DFFE7AC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772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02212-20C7-4B4D-A86F-C1FA02D17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16-Bit </a:t>
            </a:r>
            <a:r>
              <a:rPr lang="de-DE" dirty="0" err="1"/>
              <a:t>with</a:t>
            </a:r>
            <a:r>
              <a:rPr lang="de-DE" dirty="0"/>
              <a:t> Split BERs</a:t>
            </a:r>
          </a:p>
        </p:txBody>
      </p:sp>
      <p:pic>
        <p:nvPicPr>
          <p:cNvPr id="37" name="Content Placeholder 36">
            <a:extLst>
              <a:ext uri="{FF2B5EF4-FFF2-40B4-BE49-F238E27FC236}">
                <a16:creationId xmlns:a16="http://schemas.microsoft.com/office/drawing/2014/main" id="{DCE20AA3-5575-44AA-A9EF-BEB4038C75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875" y="1366838"/>
            <a:ext cx="6330404" cy="3776480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EE09ED-C98F-4397-AD92-B7EEDCDD4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C7B99A-FE58-40F5-B9F9-305974D80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9</a:t>
            </a:fld>
            <a:endParaRPr lang="de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7BAA8-49B1-4FC0-8BCF-88604D9101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2596" y="1367925"/>
            <a:ext cx="6330404" cy="3776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6E1ECD-5FC8-4530-BBFA-C0267C96A51E}"/>
              </a:ext>
            </a:extLst>
          </p:cNvPr>
          <p:cNvSpPr txBox="1"/>
          <p:nvPr/>
        </p:nvSpPr>
        <p:spPr>
          <a:xfrm>
            <a:off x="158204" y="5083202"/>
            <a:ext cx="60102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/>
              <a:t>simulation</a:t>
            </a:r>
            <a:r>
              <a:rPr lang="de-DE" sz="1600" dirty="0"/>
              <a:t> </a:t>
            </a:r>
            <a:r>
              <a:rPr lang="de-DE" sz="1600" dirty="0" err="1"/>
              <a:t>results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how</a:t>
            </a:r>
            <a:r>
              <a:rPr lang="de-DE" sz="1600" dirty="0"/>
              <a:t> </a:t>
            </a:r>
            <a:r>
              <a:rPr lang="de-DE" sz="1600" dirty="0" err="1"/>
              <a:t>various</a:t>
            </a:r>
            <a:r>
              <a:rPr lang="de-DE" sz="1600" dirty="0"/>
              <a:t> </a:t>
            </a:r>
            <a:r>
              <a:rPr lang="de-DE" sz="1600" b="1" dirty="0"/>
              <a:t>B</a:t>
            </a:r>
            <a:r>
              <a:rPr lang="de-DE" sz="1600" dirty="0"/>
              <a:t>it </a:t>
            </a:r>
            <a:r>
              <a:rPr lang="de-DE" sz="1600" b="1" dirty="0"/>
              <a:t>E</a:t>
            </a:r>
            <a:r>
              <a:rPr lang="de-DE" sz="1600" dirty="0"/>
              <a:t>rror </a:t>
            </a:r>
            <a:r>
              <a:rPr lang="de-DE" sz="1600" b="1" dirty="0"/>
              <a:t>R</a:t>
            </a:r>
            <a:r>
              <a:rPr lang="de-DE" sz="1600" dirty="0"/>
              <a:t>ates </a:t>
            </a:r>
            <a:r>
              <a:rPr lang="de-DE" sz="1600" dirty="0" err="1"/>
              <a:t>affect</a:t>
            </a:r>
            <a:r>
              <a:rPr lang="de-DE" sz="1600" dirty="0"/>
              <a:t> </a:t>
            </a:r>
            <a:r>
              <a:rPr lang="de-DE" sz="1600" b="1" dirty="0" err="1"/>
              <a:t>Accuracy</a:t>
            </a:r>
            <a:r>
              <a:rPr lang="de-DE" sz="1600" b="1" dirty="0"/>
              <a:t> </a:t>
            </a:r>
          </a:p>
          <a:p>
            <a:pPr algn="ctr"/>
            <a:r>
              <a:rPr lang="de-DE" sz="1400" dirty="0"/>
              <a:t>Half open </a:t>
            </a:r>
            <a:r>
              <a:rPr lang="de-DE" sz="1400" dirty="0" err="1"/>
              <a:t>interval</a:t>
            </a:r>
            <a:r>
              <a:rPr lang="de-DE" sz="1400" dirty="0"/>
              <a:t> e.g.:</a:t>
            </a:r>
          </a:p>
          <a:p>
            <a:pPr algn="ctr"/>
            <a:r>
              <a:rPr lang="de-DE" sz="1400" i="1" dirty="0"/>
              <a:t>[0,1) = </a:t>
            </a:r>
            <a:r>
              <a:rPr lang="de-DE" sz="1400" b="1" i="1" dirty="0" err="1"/>
              <a:t>first</a:t>
            </a:r>
            <a:r>
              <a:rPr lang="de-DE" sz="1400" b="1" i="1" dirty="0"/>
              <a:t> </a:t>
            </a:r>
            <a:r>
              <a:rPr lang="de-DE" sz="1400" i="1" dirty="0" err="1"/>
              <a:t>bit</a:t>
            </a:r>
            <a:r>
              <a:rPr lang="de-DE" sz="1400" i="1" dirty="0"/>
              <a:t> (</a:t>
            </a:r>
            <a:r>
              <a:rPr lang="de-DE" sz="1400" i="1" dirty="0" err="1"/>
              <a:t>smallest</a:t>
            </a:r>
            <a:r>
              <a:rPr lang="de-DE" sz="1400" i="1" dirty="0"/>
              <a:t> </a:t>
            </a:r>
            <a:r>
              <a:rPr lang="de-DE" sz="1400" i="1" dirty="0" err="1"/>
              <a:t>first</a:t>
            </a:r>
            <a:r>
              <a:rPr lang="de-DE" sz="1400" i="1" dirty="0"/>
              <a:t>) </a:t>
            </a:r>
            <a:r>
              <a:rPr lang="de-DE" sz="1400" i="1" dirty="0" err="1"/>
              <a:t>is</a:t>
            </a:r>
            <a:r>
              <a:rPr lang="de-DE" sz="1400" i="1" dirty="0"/>
              <a:t> </a:t>
            </a:r>
            <a:r>
              <a:rPr lang="de-DE" sz="1400" i="1" dirty="0" err="1"/>
              <a:t>protected</a:t>
            </a:r>
            <a:endParaRPr lang="de-DE" sz="1400" i="1" dirty="0"/>
          </a:p>
          <a:p>
            <a:pPr algn="ctr"/>
            <a:r>
              <a:rPr lang="de-DE" sz="1400" i="1" dirty="0"/>
              <a:t>[0,3) =&gt; [0, 1, 2] </a:t>
            </a:r>
            <a:r>
              <a:rPr lang="de-DE" sz="1400" i="1" dirty="0" err="1"/>
              <a:t>are</a:t>
            </a:r>
            <a:r>
              <a:rPr lang="de-DE" sz="1400" i="1" dirty="0"/>
              <a:t> </a:t>
            </a:r>
            <a:r>
              <a:rPr lang="de-DE" sz="1400" i="1" dirty="0" err="1"/>
              <a:t>protected</a:t>
            </a:r>
            <a:endParaRPr lang="de-DE" sz="1400" i="1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9263A4-C517-49DE-9532-0ABC03D378A3}"/>
              </a:ext>
            </a:extLst>
          </p:cNvPr>
          <p:cNvSpPr txBox="1"/>
          <p:nvPr/>
        </p:nvSpPr>
        <p:spPr>
          <a:xfrm>
            <a:off x="6168479" y="5143318"/>
            <a:ext cx="5048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ECC </a:t>
            </a:r>
            <a:r>
              <a:rPr lang="de-DE" sz="1600" dirty="0" err="1"/>
              <a:t>compared</a:t>
            </a:r>
            <a:r>
              <a:rPr lang="de-DE" sz="1600" dirty="0"/>
              <a:t> </a:t>
            </a:r>
            <a:r>
              <a:rPr lang="de-DE" sz="1600" dirty="0" err="1"/>
              <a:t>against</a:t>
            </a:r>
            <a:r>
              <a:rPr lang="de-DE" sz="1600" dirty="0"/>
              <a:t> </a:t>
            </a:r>
            <a:r>
              <a:rPr lang="de-DE" sz="1600" b="1" dirty="0" err="1"/>
              <a:t>no</a:t>
            </a:r>
            <a:r>
              <a:rPr lang="de-DE" sz="1600" b="1" dirty="0"/>
              <a:t> ECC</a:t>
            </a:r>
          </a:p>
          <a:p>
            <a:pPr algn="ctr"/>
            <a:r>
              <a:rPr lang="de-DE" sz="1600" b="1" dirty="0"/>
              <a:t>High</a:t>
            </a:r>
            <a:r>
              <a:rPr lang="de-DE" sz="1600" dirty="0"/>
              <a:t> BERs </a:t>
            </a:r>
            <a:r>
              <a:rPr lang="de-DE" sz="1600" dirty="0" err="1"/>
              <a:t>result</a:t>
            </a:r>
            <a:r>
              <a:rPr lang="de-DE" sz="1600" dirty="0"/>
              <a:t> in ECC </a:t>
            </a:r>
            <a:r>
              <a:rPr lang="de-DE" sz="1600" b="1" dirty="0" err="1"/>
              <a:t>worsening</a:t>
            </a:r>
            <a:r>
              <a:rPr lang="de-DE" sz="1600" b="1" dirty="0"/>
              <a:t> </a:t>
            </a:r>
            <a:r>
              <a:rPr lang="de-DE" sz="1600" dirty="0" err="1"/>
              <a:t>Accuracy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2964678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9B6A-0EFF-4060-90AB-E8274107A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16-Bit </a:t>
            </a:r>
            <a:r>
              <a:rPr lang="de-DE" dirty="0" err="1"/>
              <a:t>with</a:t>
            </a:r>
            <a:r>
              <a:rPr lang="de-DE" dirty="0"/>
              <a:t> Split BERs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7864D4-E63D-4A1E-A9A4-123EB7E6CE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451" y="1495120"/>
            <a:ext cx="2351293" cy="1402692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3AD49E3-661C-4923-98E0-C735CC470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2BCE5E-D7C0-4980-B6BE-07EADC624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10</a:t>
            </a:fld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E5713C-27E3-4D77-817C-6ABC8A42CD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408" y="1495120"/>
            <a:ext cx="2351293" cy="14026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EA27F-59DB-428A-8B39-5EF91B70C5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175" y="1495120"/>
            <a:ext cx="2351293" cy="14026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616654-D39A-4FB3-BD98-EEC2DA7E1C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928" y="1495120"/>
            <a:ext cx="2351293" cy="14026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ABBE67-626D-4380-86FC-9E25F21D3DC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207"/>
          <a:stretch/>
        </p:blipFill>
        <p:spPr>
          <a:xfrm>
            <a:off x="9258380" y="1495120"/>
            <a:ext cx="2087767" cy="14026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146C9C7-C235-44B7-A0F0-AFEC632A4B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962" y="2884720"/>
            <a:ext cx="2351293" cy="14026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EC172DE-A22D-45B7-8C00-84189DF08A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308" y="2884720"/>
            <a:ext cx="2351293" cy="14026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200C012-E84D-4F74-8B77-FDCFB2CC91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5562" y="2884720"/>
            <a:ext cx="2351293" cy="140269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3BE001-65A5-4774-8FEB-168F8D29535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7162" y="2884720"/>
            <a:ext cx="2351293" cy="140269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5BA1D5-6640-4DC7-A221-F2E0F66DD778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207"/>
          <a:stretch/>
        </p:blipFill>
        <p:spPr>
          <a:xfrm>
            <a:off x="9258763" y="2884720"/>
            <a:ext cx="2087766" cy="140269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654138-526B-422E-B240-12D17706B26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7562" y="4277920"/>
            <a:ext cx="2351293" cy="140269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EE9A40-CBC4-492E-8ACF-172D465F7F0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5562" y="4277920"/>
            <a:ext cx="2351293" cy="14026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A4E01A6-8CEE-4045-9ECF-74654C6192C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261"/>
          <a:stretch/>
        </p:blipFill>
        <p:spPr>
          <a:xfrm>
            <a:off x="7167162" y="4277920"/>
            <a:ext cx="2086511" cy="140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131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9B6A-0EFF-4060-90AB-E8274107A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16-Bit </a:t>
            </a:r>
            <a:r>
              <a:rPr lang="de-DE" dirty="0" err="1"/>
              <a:t>with</a:t>
            </a:r>
            <a:r>
              <a:rPr lang="de-DE" dirty="0"/>
              <a:t> Split BERs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AAEB3FC-0A35-482D-9DEB-AE4F64502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A1C4CD-CABA-4431-AABB-E0DEDCE18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11</a:t>
            </a:fld>
            <a:endParaRPr lang="de-DE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BEE4AD-0130-4744-A5C9-C8F595F5DC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366"/>
          <a:stretch/>
        </p:blipFill>
        <p:spPr>
          <a:xfrm>
            <a:off x="129311" y="1402211"/>
            <a:ext cx="5610890" cy="377648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7E1AF9-75A4-4457-B66E-4181F6C7C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259" y="1402211"/>
            <a:ext cx="6330404" cy="377648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05AF8F6-BFA1-4F3F-A958-F406A33F4EE7}"/>
              </a:ext>
            </a:extLst>
          </p:cNvPr>
          <p:cNvSpPr txBox="1"/>
          <p:nvPr/>
        </p:nvSpPr>
        <p:spPr>
          <a:xfrm>
            <a:off x="3216076" y="5194255"/>
            <a:ext cx="5048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ECC </a:t>
            </a:r>
            <a:r>
              <a:rPr lang="de-DE" sz="1600" dirty="0" err="1"/>
              <a:t>causes</a:t>
            </a:r>
            <a:r>
              <a:rPr lang="de-DE" sz="1600" dirty="0"/>
              <a:t> a </a:t>
            </a:r>
            <a:r>
              <a:rPr lang="de-DE" sz="1600" b="1" dirty="0" err="1"/>
              <a:t>worse</a:t>
            </a:r>
            <a:r>
              <a:rPr lang="de-DE" sz="1600" b="1" dirty="0"/>
              <a:t> </a:t>
            </a:r>
            <a:r>
              <a:rPr lang="de-DE" sz="1600" dirty="0" err="1"/>
              <a:t>result</a:t>
            </a:r>
            <a:r>
              <a:rPr lang="de-DE" sz="1600" dirty="0"/>
              <a:t> </a:t>
            </a:r>
            <a:r>
              <a:rPr lang="de-DE" sz="1600" dirty="0" err="1"/>
              <a:t>than</a:t>
            </a:r>
            <a:r>
              <a:rPr lang="de-DE" sz="1600" dirty="0"/>
              <a:t> </a:t>
            </a:r>
            <a:r>
              <a:rPr lang="de-DE" sz="1600" b="1" dirty="0" err="1"/>
              <a:t>no</a:t>
            </a:r>
            <a:r>
              <a:rPr lang="de-DE" sz="1600" b="1" dirty="0"/>
              <a:t> ECC</a:t>
            </a:r>
          </a:p>
          <a:p>
            <a:pPr algn="ctr"/>
            <a:r>
              <a:rPr lang="de-DE" sz="1600" dirty="0"/>
              <a:t>BER </a:t>
            </a:r>
            <a:r>
              <a:rPr lang="de-DE" sz="1600" dirty="0" err="1"/>
              <a:t>up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b="1" dirty="0"/>
              <a:t>0.003 </a:t>
            </a:r>
            <a:r>
              <a:rPr lang="de-DE" sz="1600" dirty="0"/>
              <a:t>possible </a:t>
            </a:r>
            <a:r>
              <a:rPr lang="de-DE" sz="1600" b="1" dirty="0" err="1"/>
              <a:t>even</a:t>
            </a:r>
            <a:r>
              <a:rPr lang="de-DE" sz="1600" b="1" dirty="0"/>
              <a:t> </a:t>
            </a:r>
            <a:r>
              <a:rPr lang="de-DE" sz="1600" b="1" dirty="0" err="1"/>
              <a:t>without</a:t>
            </a:r>
            <a:r>
              <a:rPr lang="de-DE" sz="1600" b="1" dirty="0"/>
              <a:t> ECC</a:t>
            </a:r>
          </a:p>
        </p:txBody>
      </p:sp>
    </p:spTree>
    <p:extLst>
      <p:ext uri="{BB962C8B-B14F-4D97-AF65-F5344CB8AC3E}">
        <p14:creationId xmlns:p14="http://schemas.microsoft.com/office/powerpoint/2010/main" val="2115774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9B6A-0EFF-4060-90AB-E8274107A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8-Bit </a:t>
            </a:r>
            <a:r>
              <a:rPr lang="de-DE" dirty="0" err="1"/>
              <a:t>with</a:t>
            </a:r>
            <a:r>
              <a:rPr lang="de-DE" dirty="0"/>
              <a:t> Split BERs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85D05F-95AB-4529-9D81-ECDC972D7A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79" y="1738085"/>
            <a:ext cx="3165202" cy="1888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665118-7DD0-487D-9601-57B643679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8465" y="1738085"/>
            <a:ext cx="3165202" cy="188824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1D65B1-4EB8-416A-B572-5164AA2F4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E6A954-CCAF-4D98-BFBF-595B4C71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12</a:t>
            </a:fld>
            <a:endParaRPr lang="de-D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76E4E6-D60A-42E2-AAF4-B8B428BDB4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123" y="1738085"/>
            <a:ext cx="3165202" cy="18882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37843A-DEB0-42AF-A64C-055B137909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1522" y="1738085"/>
            <a:ext cx="3165202" cy="18882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E9DC918-C0E2-4E36-96E6-555EADB94B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926" y="3660773"/>
            <a:ext cx="3165202" cy="18882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499BD2-018C-4432-A2D2-C0EADB1BCB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9124" y="3659736"/>
            <a:ext cx="3165202" cy="18882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04CEEA-7A2C-4B71-9BBD-079C7CA809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324" y="3659736"/>
            <a:ext cx="3165202" cy="188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338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9B6A-0EFF-4060-90AB-E8274107A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8-Bit </a:t>
            </a:r>
            <a:r>
              <a:rPr lang="de-DE" dirty="0" err="1"/>
              <a:t>with</a:t>
            </a:r>
            <a:r>
              <a:rPr lang="de-DE" dirty="0"/>
              <a:t> Split BERs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85D05F-95AB-4529-9D81-ECDC972D7A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00" y="1404000"/>
            <a:ext cx="6330404" cy="377648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1D65B1-4EB8-416A-B572-5164AA2F4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E6A954-CCAF-4D98-BFBF-595B4C71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13</a:t>
            </a:fld>
            <a:endParaRPr lang="de-D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504CEEA-7A2C-4B71-9BBD-079C7CA809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6577" y="1404000"/>
            <a:ext cx="6330404" cy="37764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9F85C2C-32CF-48C7-A6CF-7D8C25059F69}"/>
              </a:ext>
            </a:extLst>
          </p:cNvPr>
          <p:cNvSpPr txBox="1"/>
          <p:nvPr/>
        </p:nvSpPr>
        <p:spPr>
          <a:xfrm>
            <a:off x="2929182" y="5183639"/>
            <a:ext cx="60548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ECC </a:t>
            </a:r>
            <a:r>
              <a:rPr lang="de-DE" sz="1600" dirty="0" err="1"/>
              <a:t>allows</a:t>
            </a:r>
            <a:r>
              <a:rPr lang="de-DE" sz="1600" dirty="0"/>
              <a:t> </a:t>
            </a:r>
            <a:r>
              <a:rPr lang="de-DE" sz="1600" dirty="0" err="1"/>
              <a:t>increasing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b="1" dirty="0"/>
              <a:t>BER </a:t>
            </a:r>
            <a:r>
              <a:rPr lang="de-DE" sz="1600" dirty="0" err="1"/>
              <a:t>up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b="1" dirty="0"/>
              <a:t>0.025 </a:t>
            </a:r>
            <a:r>
              <a:rPr lang="de-DE" sz="1600" dirty="0" err="1"/>
              <a:t>with</a:t>
            </a:r>
            <a:r>
              <a:rPr lang="de-DE" sz="1600" dirty="0"/>
              <a:t> minimal </a:t>
            </a:r>
            <a:r>
              <a:rPr lang="de-DE" sz="1600" dirty="0" err="1"/>
              <a:t>accuracy</a:t>
            </a:r>
            <a:r>
              <a:rPr lang="de-DE" sz="1600" dirty="0"/>
              <a:t> </a:t>
            </a:r>
            <a:r>
              <a:rPr lang="de-DE" sz="1600" dirty="0" err="1"/>
              <a:t>cost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2758313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B2BE19-9084-48DA-8EEE-6D89074522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0" y="659962"/>
            <a:ext cx="4702586" cy="28053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F8828C-C8B2-4BEC-8BF8-BA2D59330E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3540" y="659476"/>
            <a:ext cx="4702586" cy="2805385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595C3A3-0E21-417B-ACEF-7A905540A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C4B1C27-60A3-488C-8FC9-783F269A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14</a:t>
            </a:fld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00339E-C7EB-49B4-B680-644260DCAD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8837" y="3352777"/>
            <a:ext cx="4702586" cy="280538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957FCD57-D8AA-4635-84EE-09821804B49E}"/>
              </a:ext>
            </a:extLst>
          </p:cNvPr>
          <p:cNvSpPr txBox="1">
            <a:spLocks/>
          </p:cNvSpPr>
          <p:nvPr/>
        </p:nvSpPr>
        <p:spPr>
          <a:xfrm>
            <a:off x="62115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4-Bit</a:t>
            </a:r>
          </a:p>
          <a:p>
            <a:pPr algn="ctr"/>
            <a:r>
              <a:rPr lang="de-DE" dirty="0" err="1"/>
              <a:t>with</a:t>
            </a:r>
            <a:r>
              <a:rPr lang="de-DE" dirty="0"/>
              <a:t> Split BERs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E80F71-A7B6-49B4-B685-45C0C79E3DE6}"/>
              </a:ext>
            </a:extLst>
          </p:cNvPr>
          <p:cNvSpPr txBox="1"/>
          <p:nvPr/>
        </p:nvSpPr>
        <p:spPr>
          <a:xfrm>
            <a:off x="8451423" y="4463081"/>
            <a:ext cx="33960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ECC </a:t>
            </a:r>
            <a:r>
              <a:rPr lang="de-DE" sz="1600" dirty="0" err="1"/>
              <a:t>allows</a:t>
            </a:r>
            <a:r>
              <a:rPr lang="de-DE" sz="1600" dirty="0"/>
              <a:t> </a:t>
            </a:r>
            <a:r>
              <a:rPr lang="de-DE" sz="1600" dirty="0" err="1"/>
              <a:t>increasing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b="1" dirty="0"/>
              <a:t>BER </a:t>
            </a:r>
            <a:r>
              <a:rPr lang="de-DE" sz="1600" dirty="0" err="1"/>
              <a:t>up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b="1" dirty="0"/>
              <a:t>0.05 </a:t>
            </a:r>
            <a:r>
              <a:rPr lang="de-DE" sz="1600" dirty="0" err="1"/>
              <a:t>with</a:t>
            </a:r>
            <a:r>
              <a:rPr lang="de-DE" sz="1600" dirty="0"/>
              <a:t> minimal </a:t>
            </a:r>
            <a:r>
              <a:rPr lang="de-DE" sz="1600" dirty="0" err="1"/>
              <a:t>accuracy</a:t>
            </a:r>
            <a:r>
              <a:rPr lang="de-DE" sz="1600" dirty="0"/>
              <a:t> </a:t>
            </a:r>
            <a:r>
              <a:rPr lang="de-DE" sz="1600" dirty="0" err="1"/>
              <a:t>cost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4190296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9B6A-0EFF-4060-90AB-E8274107A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16-Bit </a:t>
            </a:r>
            <a:r>
              <a:rPr lang="de-DE" dirty="0" err="1"/>
              <a:t>with</a:t>
            </a:r>
            <a:r>
              <a:rPr lang="de-DE" dirty="0"/>
              <a:t> Same BERs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D8E64F-3161-4900-8227-7A43456989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503"/>
          <a:stretch/>
        </p:blipFill>
        <p:spPr>
          <a:xfrm>
            <a:off x="33349" y="1524435"/>
            <a:ext cx="5732451" cy="38211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AE27DF2-7076-4F99-AB11-989071512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174" y="1524435"/>
            <a:ext cx="6405220" cy="3821112"/>
          </a:xfrm>
          <a:prstGeom prst="rect">
            <a:avLst/>
          </a:prstGeom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BC49A19-A865-4BC6-8859-2C49A8963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E295BC-3984-41A3-8AF9-D6E2389D0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15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35917F-5C21-45DE-89A1-B3DAB6F477E2}"/>
              </a:ext>
            </a:extLst>
          </p:cNvPr>
          <p:cNvSpPr txBox="1"/>
          <p:nvPr/>
        </p:nvSpPr>
        <p:spPr>
          <a:xfrm>
            <a:off x="2255275" y="5435450"/>
            <a:ext cx="73911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/>
              <a:t>Accuracy</a:t>
            </a:r>
            <a:r>
              <a:rPr lang="de-DE" sz="1600" dirty="0"/>
              <a:t> </a:t>
            </a:r>
            <a:r>
              <a:rPr lang="de-DE" sz="1600" b="1" dirty="0" err="1"/>
              <a:t>worsened</a:t>
            </a:r>
            <a:r>
              <a:rPr lang="de-DE" sz="1600" b="1" dirty="0"/>
              <a:t> </a:t>
            </a:r>
            <a:r>
              <a:rPr lang="de-DE" sz="1600" dirty="0" err="1"/>
              <a:t>by</a:t>
            </a:r>
            <a:r>
              <a:rPr lang="de-DE" sz="1600" dirty="0"/>
              <a:t> </a:t>
            </a:r>
            <a:r>
              <a:rPr lang="de-DE" sz="1600" b="1" dirty="0"/>
              <a:t>ECC</a:t>
            </a:r>
          </a:p>
          <a:p>
            <a:pPr algn="ctr"/>
            <a:r>
              <a:rPr lang="de-DE" sz="1600" b="1" dirty="0"/>
              <a:t>BER </a:t>
            </a:r>
            <a:r>
              <a:rPr lang="de-DE" sz="1600" dirty="0" err="1"/>
              <a:t>up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b="1" dirty="0"/>
              <a:t>0.003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4128805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9B6A-0EFF-4060-90AB-E8274107A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8-Bit </a:t>
            </a:r>
            <a:r>
              <a:rPr lang="de-DE" dirty="0" err="1"/>
              <a:t>with</a:t>
            </a:r>
            <a:r>
              <a:rPr lang="de-DE" dirty="0"/>
              <a:t> Same BERs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CEC851-5822-40C0-9F87-E4EB9BD56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106" y="1245201"/>
            <a:ext cx="7272867" cy="4338717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2EA06-4218-4300-8B85-AF549F447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1B56DF-D22B-435A-8439-B6AC4C9FC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16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B3DCD8-0AEC-4DD9-9F6E-DB30506F3BB7}"/>
              </a:ext>
            </a:extLst>
          </p:cNvPr>
          <p:cNvSpPr txBox="1"/>
          <p:nvPr/>
        </p:nvSpPr>
        <p:spPr>
          <a:xfrm>
            <a:off x="2393815" y="5500102"/>
            <a:ext cx="73911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ECC </a:t>
            </a:r>
            <a:r>
              <a:rPr lang="de-DE" sz="1600" dirty="0" err="1"/>
              <a:t>allows</a:t>
            </a:r>
            <a:r>
              <a:rPr lang="de-DE" sz="1600" dirty="0"/>
              <a:t> </a:t>
            </a:r>
            <a:r>
              <a:rPr lang="de-DE" sz="1600" dirty="0" err="1"/>
              <a:t>increasing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b="1" dirty="0"/>
              <a:t>BER </a:t>
            </a:r>
            <a:r>
              <a:rPr lang="de-DE" sz="1600" dirty="0" err="1"/>
              <a:t>up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b="1" dirty="0"/>
              <a:t>0.025 </a:t>
            </a:r>
            <a:r>
              <a:rPr lang="de-DE" sz="1600" dirty="0" err="1"/>
              <a:t>with</a:t>
            </a:r>
            <a:r>
              <a:rPr lang="de-DE" sz="1600" dirty="0"/>
              <a:t> minimal </a:t>
            </a:r>
            <a:r>
              <a:rPr lang="de-DE" sz="1600" dirty="0" err="1"/>
              <a:t>accuracy</a:t>
            </a:r>
            <a:r>
              <a:rPr lang="de-DE" sz="1600" dirty="0"/>
              <a:t> </a:t>
            </a:r>
            <a:r>
              <a:rPr lang="de-DE" sz="1600" dirty="0" err="1"/>
              <a:t>cost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3766360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49B6A-0EFF-4060-90AB-E8274107A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4-Bit </a:t>
            </a:r>
            <a:r>
              <a:rPr lang="de-DE" dirty="0" err="1"/>
              <a:t>with</a:t>
            </a:r>
            <a:r>
              <a:rPr lang="de-DE" dirty="0"/>
              <a:t> Same BERs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421FE-1EF4-4B3E-920E-F43D741F8D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396" y="1298781"/>
            <a:ext cx="7234747" cy="4315977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EF3101-4FA0-4951-8EAC-0DEEB5DCA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A7D8A17-5882-48FF-8E79-6A4CE6E76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17</a:t>
            </a:fld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73F0B-EE5C-4A8A-BF8C-EEF0B9B55821}"/>
              </a:ext>
            </a:extLst>
          </p:cNvPr>
          <p:cNvSpPr txBox="1"/>
          <p:nvPr/>
        </p:nvSpPr>
        <p:spPr>
          <a:xfrm>
            <a:off x="2356871" y="5500102"/>
            <a:ext cx="73911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ECC </a:t>
            </a:r>
            <a:r>
              <a:rPr lang="de-DE" sz="1600" dirty="0" err="1"/>
              <a:t>allows</a:t>
            </a:r>
            <a:r>
              <a:rPr lang="de-DE" sz="1600" dirty="0"/>
              <a:t> </a:t>
            </a:r>
            <a:r>
              <a:rPr lang="de-DE" sz="1600" dirty="0" err="1"/>
              <a:t>increasing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b="1" dirty="0"/>
              <a:t>BER </a:t>
            </a:r>
            <a:r>
              <a:rPr lang="de-DE" sz="1600" dirty="0" err="1"/>
              <a:t>up</a:t>
            </a:r>
            <a:r>
              <a:rPr lang="de-DE" sz="1600" dirty="0"/>
              <a:t>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b="1" dirty="0"/>
              <a:t>0.05 </a:t>
            </a:r>
            <a:r>
              <a:rPr lang="de-DE" sz="1600" dirty="0" err="1"/>
              <a:t>with</a:t>
            </a:r>
            <a:r>
              <a:rPr lang="de-DE" sz="1600" dirty="0"/>
              <a:t> minimal </a:t>
            </a:r>
            <a:r>
              <a:rPr lang="de-DE" sz="1600" dirty="0" err="1"/>
              <a:t>accuracy</a:t>
            </a:r>
            <a:r>
              <a:rPr lang="de-DE" sz="1600" dirty="0"/>
              <a:t> </a:t>
            </a:r>
            <a:r>
              <a:rPr lang="de-DE" sz="1600" dirty="0" err="1"/>
              <a:t>cost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8541437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D5FA4-C33C-4361-8F13-F5B3E7E2F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b="1" dirty="0" err="1"/>
              <a:t>Results</a:t>
            </a:r>
            <a:r>
              <a:rPr lang="de-DE" b="1" dirty="0"/>
              <a:t>:</a:t>
            </a:r>
            <a:r>
              <a:rPr lang="de-DE" dirty="0"/>
              <a:t> Potential Energy </a:t>
            </a:r>
            <a:r>
              <a:rPr lang="de-DE" dirty="0" err="1"/>
              <a:t>Saving</a:t>
            </a:r>
            <a:r>
              <a:rPr lang="en-US" sz="4400" baseline="30000" dirty="0"/>
              <a:t>1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3407C-3A02-4CF1-8847-5A729C2A8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Split BER: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Same BER: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de-DE" sz="1200" dirty="0"/>
              <a:t>L. Yang and B. Murmann, "SRAM </a:t>
            </a:r>
            <a:r>
              <a:rPr lang="de-DE" sz="1200" dirty="0" err="1"/>
              <a:t>voltage</a:t>
            </a:r>
            <a:r>
              <a:rPr lang="de-DE" sz="1200" dirty="0"/>
              <a:t> </a:t>
            </a:r>
            <a:r>
              <a:rPr lang="de-DE" sz="1200" dirty="0" err="1"/>
              <a:t>scaling</a:t>
            </a:r>
            <a:r>
              <a:rPr lang="de-DE" sz="1200" dirty="0"/>
              <a:t> </a:t>
            </a:r>
            <a:r>
              <a:rPr lang="de-DE" sz="1200" dirty="0" err="1"/>
              <a:t>for</a:t>
            </a:r>
            <a:r>
              <a:rPr lang="de-DE" sz="1200" dirty="0"/>
              <a:t> </a:t>
            </a:r>
            <a:r>
              <a:rPr lang="de-DE" sz="1200" dirty="0" err="1"/>
              <a:t>energy-efficient</a:t>
            </a:r>
            <a:r>
              <a:rPr lang="de-DE" sz="1200" dirty="0"/>
              <a:t> </a:t>
            </a:r>
            <a:r>
              <a:rPr lang="de-DE" sz="1200" dirty="0" err="1"/>
              <a:t>convolutional</a:t>
            </a:r>
            <a:r>
              <a:rPr lang="de-DE" sz="1200" dirty="0"/>
              <a:t> </a:t>
            </a:r>
            <a:r>
              <a:rPr lang="de-DE" sz="1200" dirty="0" err="1"/>
              <a:t>neural</a:t>
            </a:r>
            <a:r>
              <a:rPr lang="de-DE" sz="1200" dirty="0"/>
              <a:t> </a:t>
            </a:r>
            <a:r>
              <a:rPr lang="de-DE" sz="1200" dirty="0" err="1"/>
              <a:t>networks</a:t>
            </a:r>
            <a:r>
              <a:rPr lang="de-DE" sz="1200" dirty="0"/>
              <a:t>," </a:t>
            </a:r>
            <a:r>
              <a:rPr lang="de-DE" sz="1200" i="1" dirty="0"/>
              <a:t>2017 18th International Symposium on Quality Electronic Design (ISQED)</a:t>
            </a:r>
            <a:r>
              <a:rPr lang="de-DE" sz="1200" dirty="0"/>
              <a:t>, Santa Clara, CA, USA, 2017, pp. 7-12, </a:t>
            </a:r>
            <a:r>
              <a:rPr lang="de-DE" sz="1200" dirty="0" err="1"/>
              <a:t>doi</a:t>
            </a:r>
            <a:r>
              <a:rPr lang="de-DE" sz="1200" dirty="0"/>
              <a:t>: 10.1109/ISQED.2017.7918284.</a:t>
            </a:r>
            <a:r>
              <a:rPr lang="en-US" sz="1700" baseline="30000" dirty="0"/>
              <a:t>1</a:t>
            </a:r>
            <a:endParaRPr lang="de-DE" sz="1700" baseline="30000" dirty="0"/>
          </a:p>
          <a:p>
            <a:endParaRPr lang="de-DE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4C33269-80DE-4FE6-BA73-5099B6EFEA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352936"/>
              </p:ext>
            </p:extLst>
          </p:nvPr>
        </p:nvGraphicFramePr>
        <p:xfrm>
          <a:off x="2678546" y="2223663"/>
          <a:ext cx="574680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072">
                  <a:extLst>
                    <a:ext uri="{9D8B030D-6E8A-4147-A177-3AD203B41FA5}">
                      <a16:colId xmlns:a16="http://schemas.microsoft.com/office/drawing/2014/main" val="2033899798"/>
                    </a:ext>
                  </a:extLst>
                </a:gridCol>
                <a:gridCol w="1428623">
                  <a:extLst>
                    <a:ext uri="{9D8B030D-6E8A-4147-A177-3AD203B41FA5}">
                      <a16:colId xmlns:a16="http://schemas.microsoft.com/office/drawing/2014/main" val="3168175317"/>
                    </a:ext>
                  </a:extLst>
                </a:gridCol>
                <a:gridCol w="1641602">
                  <a:extLst>
                    <a:ext uri="{9D8B030D-6E8A-4147-A177-3AD203B41FA5}">
                      <a16:colId xmlns:a16="http://schemas.microsoft.com/office/drawing/2014/main" val="3890809100"/>
                    </a:ext>
                  </a:extLst>
                </a:gridCol>
                <a:gridCol w="770255">
                  <a:extLst>
                    <a:ext uri="{9D8B030D-6E8A-4147-A177-3AD203B41FA5}">
                      <a16:colId xmlns:a16="http://schemas.microsoft.com/office/drawing/2014/main" val="1390652848"/>
                    </a:ext>
                  </a:extLst>
                </a:gridCol>
                <a:gridCol w="770255">
                  <a:extLst>
                    <a:ext uri="{9D8B030D-6E8A-4147-A177-3AD203B41FA5}">
                      <a16:colId xmlns:a16="http://schemas.microsoft.com/office/drawing/2014/main" val="25198526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/>
                        <a:t>Unprotected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16-Bit (</a:t>
                      </a:r>
                      <a:r>
                        <a:rPr lang="de-DE" dirty="0" err="1"/>
                        <a:t>no</a:t>
                      </a:r>
                      <a:r>
                        <a:rPr lang="de-DE" dirty="0"/>
                        <a:t> ECC)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4-Bit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590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Voltage</a:t>
                      </a:r>
                      <a:endParaRPr lang="de-DE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0.54V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0.51V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0.49V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0.47V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364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BER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10</a:t>
                      </a:r>
                      <a:r>
                        <a:rPr lang="de-DE" baseline="30000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689793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E5CA14A-1866-4468-8CB0-26332AAC4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945473"/>
              </p:ext>
            </p:extLst>
          </p:nvPr>
        </p:nvGraphicFramePr>
        <p:xfrm>
          <a:off x="3602182" y="3991653"/>
          <a:ext cx="412915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7039">
                  <a:extLst>
                    <a:ext uri="{9D8B030D-6E8A-4147-A177-3AD203B41FA5}">
                      <a16:colId xmlns:a16="http://schemas.microsoft.com/office/drawing/2014/main" val="940945278"/>
                    </a:ext>
                  </a:extLst>
                </a:gridCol>
                <a:gridCol w="1641602">
                  <a:extLst>
                    <a:ext uri="{9D8B030D-6E8A-4147-A177-3AD203B41FA5}">
                      <a16:colId xmlns:a16="http://schemas.microsoft.com/office/drawing/2014/main" val="3890809100"/>
                    </a:ext>
                  </a:extLst>
                </a:gridCol>
                <a:gridCol w="770255">
                  <a:extLst>
                    <a:ext uri="{9D8B030D-6E8A-4147-A177-3AD203B41FA5}">
                      <a16:colId xmlns:a16="http://schemas.microsoft.com/office/drawing/2014/main" val="1390652848"/>
                    </a:ext>
                  </a:extLst>
                </a:gridCol>
                <a:gridCol w="770255">
                  <a:extLst>
                    <a:ext uri="{9D8B030D-6E8A-4147-A177-3AD203B41FA5}">
                      <a16:colId xmlns:a16="http://schemas.microsoft.com/office/drawing/2014/main" val="25198526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16-Bit (</a:t>
                      </a:r>
                      <a:r>
                        <a:rPr lang="de-DE" dirty="0" err="1"/>
                        <a:t>no</a:t>
                      </a:r>
                      <a:r>
                        <a:rPr lang="de-DE" dirty="0"/>
                        <a:t> ECC)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4-Bit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590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Voltage</a:t>
                      </a:r>
                      <a:endParaRPr lang="de-DE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0.51V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0.49V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0.47V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364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BER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0.05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276763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BBD1C-C0A0-4337-B1A7-D55BC3FF5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9A0D62-CCF3-4B24-9FA0-EE253553C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3815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D5FA4-C33C-4361-8F13-F5B3E7E2F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3407C-3A02-4CF1-8847-5A729C2A8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b="1" dirty="0"/>
              <a:t>ECC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b="1" dirty="0" err="1"/>
              <a:t>higher</a:t>
            </a:r>
            <a:r>
              <a:rPr lang="de-DE" b="1" dirty="0"/>
              <a:t> </a:t>
            </a:r>
            <a:r>
              <a:rPr lang="de-DE" dirty="0"/>
              <a:t>BERs </a:t>
            </a:r>
            <a:r>
              <a:rPr lang="de-DE" b="1" dirty="0" err="1"/>
              <a:t>without</a:t>
            </a:r>
            <a:r>
              <a:rPr lang="de-DE" b="1" dirty="0"/>
              <a:t> </a:t>
            </a:r>
            <a:r>
              <a:rPr lang="de-DE" dirty="0" err="1"/>
              <a:t>sacrificing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b="1" dirty="0" err="1"/>
              <a:t>accuracy</a:t>
            </a:r>
            <a:endParaRPr lang="de-DE" b="1" dirty="0"/>
          </a:p>
          <a:p>
            <a:endParaRPr lang="de-DE" dirty="0"/>
          </a:p>
          <a:p>
            <a:r>
              <a:rPr lang="de-DE" b="1" dirty="0" err="1"/>
              <a:t>Cost</a:t>
            </a:r>
            <a:r>
              <a:rPr lang="de-DE" b="1" dirty="0"/>
              <a:t> </a:t>
            </a:r>
            <a:r>
              <a:rPr lang="de-DE" dirty="0"/>
              <a:t>and </a:t>
            </a:r>
            <a:r>
              <a:rPr lang="de-DE" b="1" dirty="0" err="1"/>
              <a:t>Effort</a:t>
            </a:r>
            <a:r>
              <a:rPr lang="de-DE" b="1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/>
              <a:t>Splitting </a:t>
            </a:r>
            <a:r>
              <a:rPr lang="de-DE" dirty="0" err="1"/>
              <a:t>up</a:t>
            </a:r>
            <a:r>
              <a:rPr lang="de-DE" dirty="0"/>
              <a:t> Operating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b="1" dirty="0"/>
              <a:t>not </a:t>
            </a:r>
            <a:r>
              <a:rPr lang="de-DE" b="1" dirty="0" err="1"/>
              <a:t>worth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lang="de-DE" dirty="0"/>
          </a:p>
          <a:p>
            <a:endParaRPr lang="de-DE" dirty="0"/>
          </a:p>
          <a:p>
            <a:r>
              <a:rPr lang="de-DE" dirty="0"/>
              <a:t>Most </a:t>
            </a:r>
            <a:r>
              <a:rPr lang="de-DE" b="1" dirty="0" err="1"/>
              <a:t>effective</a:t>
            </a:r>
            <a:r>
              <a:rPr lang="de-DE" b="1" dirty="0"/>
              <a:t> </a:t>
            </a:r>
            <a:r>
              <a:rPr lang="de-DE" dirty="0"/>
              <a:t>Energy </a:t>
            </a:r>
            <a:r>
              <a:rPr lang="de-DE" dirty="0" err="1"/>
              <a:t>Saving</a:t>
            </a:r>
            <a:r>
              <a:rPr lang="de-DE" dirty="0"/>
              <a:t> via </a:t>
            </a:r>
            <a:r>
              <a:rPr lang="de-DE" b="1" dirty="0" err="1"/>
              <a:t>low</a:t>
            </a:r>
            <a:r>
              <a:rPr lang="de-DE" b="1" dirty="0"/>
              <a:t> </a:t>
            </a:r>
            <a:r>
              <a:rPr lang="de-DE" b="1" dirty="0" err="1"/>
              <a:t>bit</a:t>
            </a:r>
            <a:r>
              <a:rPr lang="de-DE" b="1" dirty="0"/>
              <a:t> </a:t>
            </a:r>
            <a:r>
              <a:rPr lang="de-DE" b="1" dirty="0" err="1"/>
              <a:t>count</a:t>
            </a:r>
            <a:r>
              <a:rPr lang="de-DE" b="1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/>
              <a:t>ECC </a:t>
            </a:r>
            <a:r>
              <a:rPr lang="de-DE" b="1" dirty="0" err="1"/>
              <a:t>method</a:t>
            </a:r>
            <a:endParaRPr lang="de-DE" b="1" dirty="0"/>
          </a:p>
          <a:p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DBBD1C-C0A0-4337-B1A7-D55BC3FF5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Selective Parity Protection for Resilient Low-Voltage SRAM in Quantized Neural Networks - Oğulcan Aşık</a:t>
            </a:r>
            <a:endParaRPr lang="de-D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9A0D62-CCF3-4B24-9FA0-EE253553C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03357A-404B-4499-B3B4-E4B1D5E2ED21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1388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AC415-9F9C-48A0-8EEE-5A0CB77E4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46325"/>
            <a:ext cx="10515600" cy="1325563"/>
          </a:xfrm>
        </p:spPr>
        <p:txBody>
          <a:bodyPr/>
          <a:lstStyle/>
          <a:p>
            <a:pPr algn="ctr"/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Listening</a:t>
            </a:r>
          </a:p>
        </p:txBody>
      </p:sp>
    </p:spTree>
    <p:extLst>
      <p:ext uri="{BB962C8B-B14F-4D97-AF65-F5344CB8AC3E}">
        <p14:creationId xmlns:p14="http://schemas.microsoft.com/office/powerpoint/2010/main" val="544721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1021</Words>
  <Application>Microsoft Office PowerPoint</Application>
  <PresentationFormat>Widescreen</PresentationFormat>
  <Paragraphs>238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Selective Parity Protection for Resilient Low-Voltage SRAM in Quantized Neural Networks</vt:lpstr>
      <vt:lpstr>Motivation</vt:lpstr>
      <vt:lpstr>Common Solutions</vt:lpstr>
      <vt:lpstr>Methodology</vt:lpstr>
      <vt:lpstr>Methodology: CNN</vt:lpstr>
      <vt:lpstr>Methodology: Quantization</vt:lpstr>
      <vt:lpstr>PowerPoint Presentation</vt:lpstr>
      <vt:lpstr>Methodology: ECC – Hamming Code Correction</vt:lpstr>
      <vt:lpstr>Results: 16-Bit with Split BERs</vt:lpstr>
      <vt:lpstr>Results: 16-Bit with Split BERs</vt:lpstr>
      <vt:lpstr>Results: 16-Bit with Split BERs</vt:lpstr>
      <vt:lpstr>Results: 8-Bit with Split BERs </vt:lpstr>
      <vt:lpstr>Results: 8-Bit with Split BERs</vt:lpstr>
      <vt:lpstr>PowerPoint Presentation</vt:lpstr>
      <vt:lpstr>Results: 16-Bit with Same BERs </vt:lpstr>
      <vt:lpstr>Results: 8-Bit with Same BERs </vt:lpstr>
      <vt:lpstr>Results: 4-Bit with Same BERs </vt:lpstr>
      <vt:lpstr>Results: Potential Energy Saving1</vt:lpstr>
      <vt:lpstr>Conclusion</vt:lpstr>
      <vt:lpstr>Thank You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Selective Parity Protection for Resilient Low-Voltage SRAM in Quantized Neural Networks</dc:title>
  <dc:creator>Ogulcan Asik</dc:creator>
  <cp:lastModifiedBy>Ogulcan Asik</cp:lastModifiedBy>
  <cp:revision>51</cp:revision>
  <dcterms:created xsi:type="dcterms:W3CDTF">2026-01-07T09:18:24Z</dcterms:created>
  <dcterms:modified xsi:type="dcterms:W3CDTF">2026-01-15T11:30:19Z</dcterms:modified>
</cp:coreProperties>
</file>